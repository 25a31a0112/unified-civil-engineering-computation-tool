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32b203c21f02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32b203c21f02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61499e4330edbc2f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61499e4330edbc2f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dfa8bf0d9605d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dfa8bf0d9605d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1499e4330edbc2f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1499e4330edbc2f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1499e4330edbc2f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1499e4330edbc2f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61499e4330edbc2f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61499e4330edbc2f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1499e4330edbc2f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1499e4330edbc2f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1499e4330edbc2f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1499e4330edbc2f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499e4330edbc2f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499e4330edbc2f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499e4330edbc2f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499e4330edbc2f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1499e4330edbc2f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1499e4330edbc2f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1499e4330edbc2f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1499e4330edbc2f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1499e4330edbc2f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1499e4330edbc2f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1499e4330edbc2f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1499e4330edbc2f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1499e4330edbc2f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1499e4330edbc2f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1499e4330edbc2f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1499e4330edbc2f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1499e4330edbc2f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1499e4330edbc2f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1499e4330edbc2f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1499e4330edbc2f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61499e4330edbc2f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61499e4330edbc2f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61499e4330edbc2f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61499e4330edbc2f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61499e4330edbc2f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61499e4330edbc2f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61499e4330edbc2f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61499e4330edbc2f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1499e4330edbc2f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1499e4330edbc2f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1499e4330edbc2f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1499e4330edbc2f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800450"/>
            <a:ext cx="5361300" cy="24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UNIFIED CIVIL ENGINEERING COMPUTATION TOOL (UCECT)</a:t>
            </a:r>
            <a:endParaRPr/>
          </a:p>
        </p:txBody>
      </p:sp>
      <p:sp>
        <p:nvSpPr>
          <p:cNvPr id="129" name="Google Shape;129;p13"/>
          <p:cNvSpPr txBox="1"/>
          <p:nvPr>
            <p:ph idx="1" type="subTitle"/>
          </p:nvPr>
        </p:nvSpPr>
        <p:spPr>
          <a:xfrm>
            <a:off x="5146809" y="3270955"/>
            <a:ext cx="3997200" cy="14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Name: </a:t>
            </a:r>
            <a:r>
              <a:rPr lang="en-GB">
                <a:solidFill>
                  <a:schemeClr val="accent6"/>
                </a:solidFill>
              </a:rPr>
              <a:t>J. Naga Durga Satya </a:t>
            </a:r>
            <a:endParaRPr>
              <a:solidFill>
                <a:schemeClr val="accent6"/>
              </a:solidFill>
            </a:endParaRPr>
          </a:p>
          <a:p>
            <a:pPr indent="0" lvl="0" marL="0" rtl="0" algn="l">
              <a:spcBef>
                <a:spcPts val="0"/>
              </a:spcBef>
              <a:spcAft>
                <a:spcPts val="0"/>
              </a:spcAft>
              <a:buNone/>
            </a:pPr>
            <a:r>
              <a:rPr lang="en-GB"/>
              <a:t>                Roll No: </a:t>
            </a:r>
            <a:r>
              <a:rPr lang="en-GB">
                <a:solidFill>
                  <a:schemeClr val="accent6"/>
                </a:solidFill>
              </a:rPr>
              <a:t>25A31A0112</a:t>
            </a:r>
            <a:endParaRPr>
              <a:solidFill>
                <a:schemeClr val="accent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REQUIREMENTS:</a:t>
            </a:r>
            <a:endParaRPr/>
          </a:p>
        </p:txBody>
      </p:sp>
      <p:sp>
        <p:nvSpPr>
          <p:cNvPr id="135" name="Google Shape;135;p14"/>
          <p:cNvSpPr txBox="1"/>
          <p:nvPr>
            <p:ph idx="1" type="body"/>
          </p:nvPr>
        </p:nvSpPr>
        <p:spPr>
          <a:xfrm>
            <a:off x="819150" y="1498375"/>
            <a:ext cx="7505700" cy="330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Software Requirements</a:t>
            </a:r>
            <a:endParaRPr sz="1800"/>
          </a:p>
          <a:p>
            <a:pPr indent="0" lvl="0" marL="0" rtl="0" algn="l">
              <a:lnSpc>
                <a:spcPct val="100000"/>
              </a:lnSpc>
              <a:spcBef>
                <a:spcPts val="1200"/>
              </a:spcBef>
              <a:spcAft>
                <a:spcPts val="0"/>
              </a:spcAft>
              <a:buNone/>
            </a:pPr>
            <a:r>
              <a:rPr lang="en-GB" sz="1800"/>
              <a:t>C Compiler (GCC / Turbo C)</a:t>
            </a:r>
            <a:endParaRPr sz="1800"/>
          </a:p>
          <a:p>
            <a:pPr indent="0" lvl="0" marL="0" rtl="0" algn="l">
              <a:lnSpc>
                <a:spcPct val="100000"/>
              </a:lnSpc>
              <a:spcBef>
                <a:spcPts val="1200"/>
              </a:spcBef>
              <a:spcAft>
                <a:spcPts val="0"/>
              </a:spcAft>
              <a:buNone/>
            </a:pPr>
            <a:r>
              <a:rPr lang="en-GB" sz="1800"/>
              <a:t>Notepad / VS Code / Any IDE</a:t>
            </a:r>
            <a:endParaRPr sz="1800"/>
          </a:p>
          <a:p>
            <a:pPr indent="0" lvl="0" marL="0" rtl="0" algn="l">
              <a:lnSpc>
                <a:spcPct val="100000"/>
              </a:lnSpc>
              <a:spcBef>
                <a:spcPts val="1200"/>
              </a:spcBef>
              <a:spcAft>
                <a:spcPts val="0"/>
              </a:spcAft>
              <a:buNone/>
            </a:pPr>
            <a:r>
              <a:rPr lang="en-GB" sz="1800"/>
              <a:t>Hardware Requirements</a:t>
            </a:r>
            <a:endParaRPr sz="1800"/>
          </a:p>
          <a:p>
            <a:pPr indent="0" lvl="0" marL="0" rtl="0" algn="l">
              <a:lnSpc>
                <a:spcPct val="100000"/>
              </a:lnSpc>
              <a:spcBef>
                <a:spcPts val="1200"/>
              </a:spcBef>
              <a:spcAft>
                <a:spcPts val="0"/>
              </a:spcAft>
              <a:buNone/>
            </a:pPr>
            <a:r>
              <a:rPr lang="en-GB" sz="1800"/>
              <a:t>RAM: 512 GB or more</a:t>
            </a:r>
            <a:endParaRPr sz="1800"/>
          </a:p>
          <a:p>
            <a:pPr indent="0" lvl="0" marL="0" rtl="0" algn="l">
              <a:lnSpc>
                <a:spcPct val="100000"/>
              </a:lnSpc>
              <a:spcBef>
                <a:spcPts val="1200"/>
              </a:spcBef>
              <a:spcAft>
                <a:spcPts val="0"/>
              </a:spcAft>
              <a:buNone/>
            </a:pPr>
            <a:r>
              <a:rPr lang="en-GB" sz="1800"/>
              <a:t>Operating System: Windows / Linux</a:t>
            </a:r>
            <a:endParaRPr sz="1800"/>
          </a:p>
          <a:p>
            <a:pPr indent="0" lvl="0" marL="0" rtl="0" algn="l">
              <a:lnSpc>
                <a:spcPct val="100000"/>
              </a:lnSpc>
              <a:spcBef>
                <a:spcPts val="1200"/>
              </a:spcBef>
              <a:spcAft>
                <a:spcPts val="1200"/>
              </a:spcAft>
              <a:buNone/>
            </a:pPr>
            <a:r>
              <a:rPr lang="en-GB" sz="1800"/>
              <a:t>Hard Disk: 20 GB</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a:t>
            </a:r>
            <a:endParaRPr sz="3300"/>
          </a:p>
        </p:txBody>
      </p:sp>
      <p:sp>
        <p:nvSpPr>
          <p:cNvPr id="141" name="Google Shape;141;p15"/>
          <p:cNvSpPr txBox="1"/>
          <p:nvPr>
            <p:ph idx="1" type="body"/>
          </p:nvPr>
        </p:nvSpPr>
        <p:spPr>
          <a:xfrm>
            <a:off x="311700" y="1508100"/>
            <a:ext cx="8520600" cy="3445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800"/>
              <a:t>The Unified Civil Engineering Computation Tool (UCECT) is a C-based software application designed to perform multiple civil engineering calculations in a single platform. Civil engineering students and professionals often need to perform repetitive calculations using different methods and tools. UCECT overcomes this problem by integrating important calculations into one menu-driven program. The tool includes modules for Stopping Sight Distance, Soil Bearing Capacity checking, and Water Tank Volume calculation. It accepts user inputs, processes them using standard engineering formulas, and displays accurate results. This project helps bridge the gap between theoretical knowledge and practical civil engineering applications.</a:t>
            </a:r>
            <a:endParaRPr sz="1800"/>
          </a:p>
          <a:p>
            <a:pPr indent="0" lvl="0" marL="0" rtl="0" algn="just">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415625" y="845600"/>
            <a:ext cx="2590800" cy="13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ALGORITHM:</a:t>
            </a:r>
            <a:endParaRPr/>
          </a:p>
        </p:txBody>
      </p:sp>
      <p:sp>
        <p:nvSpPr>
          <p:cNvPr id="147" name="Google Shape;147;p16"/>
          <p:cNvSpPr txBox="1"/>
          <p:nvPr>
            <p:ph idx="1" type="body"/>
          </p:nvPr>
        </p:nvSpPr>
        <p:spPr>
          <a:xfrm>
            <a:off x="3006425" y="273150"/>
            <a:ext cx="5673300" cy="45573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800"/>
              <a:t>Stopping Sight Distance (SSD)</a:t>
            </a:r>
            <a:endParaRPr sz="1800"/>
          </a:p>
          <a:p>
            <a:pPr indent="0" lvl="0" marL="0" rtl="0" algn="l">
              <a:lnSpc>
                <a:spcPct val="100000"/>
              </a:lnSpc>
              <a:spcBef>
                <a:spcPts val="1200"/>
              </a:spcBef>
              <a:spcAft>
                <a:spcPts val="0"/>
              </a:spcAft>
              <a:buNone/>
            </a:pPr>
            <a:r>
              <a:rPr lang="en-GB"/>
              <a:t>Step 1: Start.</a:t>
            </a:r>
            <a:endParaRPr/>
          </a:p>
          <a:p>
            <a:pPr indent="0" lvl="0" marL="0" rtl="0" algn="l">
              <a:lnSpc>
                <a:spcPct val="100000"/>
              </a:lnSpc>
              <a:spcBef>
                <a:spcPts val="1200"/>
              </a:spcBef>
              <a:spcAft>
                <a:spcPts val="0"/>
              </a:spcAft>
              <a:buNone/>
            </a:pPr>
            <a:r>
              <a:rPr lang="en-GB"/>
              <a:t>Step 2: Read input: Ask user to enter speed V in km/h.</a:t>
            </a:r>
            <a:endParaRPr/>
          </a:p>
          <a:p>
            <a:pPr indent="0" lvl="0" marL="0" rtl="0" algn="l">
              <a:lnSpc>
                <a:spcPct val="100000"/>
              </a:lnSpc>
              <a:spcBef>
                <a:spcPts val="1200"/>
              </a:spcBef>
              <a:spcAft>
                <a:spcPts val="0"/>
              </a:spcAft>
              <a:buNone/>
            </a:pPr>
            <a:r>
              <a:rPr lang="en-GB"/>
              <a:t>Step 3: Read input: Ask user to enter reaction time t in seconds (typical 2.5 s if unknown).</a:t>
            </a:r>
            <a:endParaRPr/>
          </a:p>
          <a:p>
            <a:pPr indent="0" lvl="0" marL="0" rtl="0" algn="l">
              <a:lnSpc>
                <a:spcPct val="100000"/>
              </a:lnSpc>
              <a:spcBef>
                <a:spcPts val="1200"/>
              </a:spcBef>
              <a:spcAft>
                <a:spcPts val="0"/>
              </a:spcAft>
              <a:buNone/>
            </a:pPr>
            <a:r>
              <a:rPr lang="en-GB"/>
              <a:t>Step 4: Read input: Ask user to enter coefficient of friction f (dimensionless).</a:t>
            </a:r>
            <a:endParaRPr/>
          </a:p>
          <a:p>
            <a:pPr indent="0" lvl="0" marL="0" rtl="0" algn="l">
              <a:lnSpc>
                <a:spcPct val="100000"/>
              </a:lnSpc>
              <a:spcBef>
                <a:spcPts val="1200"/>
              </a:spcBef>
              <a:spcAft>
                <a:spcPts val="0"/>
              </a:spcAft>
              <a:buNone/>
            </a:pPr>
            <a:r>
              <a:rPr lang="en-GB"/>
              <a:t>Step 5:Read input: Ask user to enter grade G as a decimal (e.g., +0.02 for +2% uphill, −0.03 for −3% downhill).</a:t>
            </a:r>
            <a:endParaRPr/>
          </a:p>
          <a:p>
            <a:pPr indent="0" lvl="0" marL="0" rtl="0" algn="l">
              <a:lnSpc>
                <a:spcPct val="100000"/>
              </a:lnSpc>
              <a:spcBef>
                <a:spcPts val="1200"/>
              </a:spcBef>
              <a:spcAft>
                <a:spcPts val="0"/>
              </a:spcAft>
              <a:buNone/>
            </a:pPr>
            <a:r>
              <a:rPr lang="en-GB"/>
              <a:t>Step 6: Validate inputs: Ensure V ≥ 0, t &gt; 0, f &gt; 0. If invalid show error and stop.</a:t>
            </a:r>
            <a:endParaRPr/>
          </a:p>
          <a:p>
            <a:pPr indent="0" lvl="0" marL="0" rtl="0" algn="l">
              <a:lnSpc>
                <a:spcPct val="100000"/>
              </a:lnSpc>
              <a:spcBef>
                <a:spcPts val="1200"/>
              </a:spcBef>
              <a:spcAft>
                <a:spcPts val="0"/>
              </a:spcAft>
              <a:buNone/>
            </a:pPr>
            <a:r>
              <a:rPr lang="en-GB"/>
              <a:t>Step 7: Compute lag (thinking) distance LD:</a:t>
            </a:r>
            <a:endParaRPr/>
          </a:p>
          <a:p>
            <a:pPr indent="0" lvl="0" marL="0" rtl="0" algn="l">
              <a:lnSpc>
                <a:spcPct val="100000"/>
              </a:lnSpc>
              <a:spcBef>
                <a:spcPts val="1200"/>
              </a:spcBef>
              <a:spcAft>
                <a:spcPts val="0"/>
              </a:spcAft>
              <a:buNone/>
            </a:pPr>
            <a:r>
              <a:rPr lang="en-GB"/>
              <a:t>LD = 0.278 × V × t.</a:t>
            </a:r>
            <a:endParaRPr/>
          </a:p>
          <a:p>
            <a:pPr indent="0" lvl="0" marL="0" rtl="0" algn="l">
              <a:lnSpc>
                <a:spcPct val="100000"/>
              </a:lnSpc>
              <a:spcBef>
                <a:spcPts val="1200"/>
              </a:spcBef>
              <a:spcAft>
                <a:spcPts val="0"/>
              </a:spcAft>
              <a:buNone/>
            </a:pPr>
            <a:r>
              <a:rPr lang="en-GB"/>
              <a:t>Step 8: Compute braking denominator:</a:t>
            </a:r>
            <a:endParaRPr/>
          </a:p>
          <a:p>
            <a:pPr indent="0" lvl="0" marL="0" rtl="0" algn="l">
              <a:lnSpc>
                <a:spcPct val="100000"/>
              </a:lnSpc>
              <a:spcBef>
                <a:spcPts val="1200"/>
              </a:spcBef>
              <a:spcAft>
                <a:spcPts val="0"/>
              </a:spcAft>
              <a:buNone/>
            </a:pPr>
            <a:r>
              <a:rPr lang="en-GB"/>
              <a:t>denom = 254 × (f + G).</a:t>
            </a:r>
            <a:endParaRPr/>
          </a:p>
          <a:p>
            <a:pPr indent="0" lvl="0" marL="0" rtl="0" algn="l">
              <a:lnSpc>
                <a:spcPct val="100000"/>
              </a:lnSpc>
              <a:spcBef>
                <a:spcPts val="1200"/>
              </a:spcBef>
              <a:spcAft>
                <a:spcPts val="1200"/>
              </a:spcAft>
              <a:buNone/>
            </a:pPr>
            <a:r>
              <a:rPr lang="en-GB"/>
              <a:t>If denom ≤ 0, show error (unsafe/invalid friction+grade) and stop.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idx="1" type="body"/>
          </p:nvPr>
        </p:nvSpPr>
        <p:spPr>
          <a:xfrm>
            <a:off x="830700" y="335250"/>
            <a:ext cx="6914100" cy="4525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Step 9: Compute braking distance BD:</a:t>
            </a:r>
            <a:endParaRPr/>
          </a:p>
          <a:p>
            <a:pPr indent="0" lvl="0" marL="0" rtl="0" algn="l">
              <a:spcBef>
                <a:spcPts val="1200"/>
              </a:spcBef>
              <a:spcAft>
                <a:spcPts val="0"/>
              </a:spcAft>
              <a:buNone/>
            </a:pPr>
            <a:r>
              <a:rPr lang="en-GB"/>
              <a:t>BD = (V × V) / denom.</a:t>
            </a:r>
            <a:endParaRPr/>
          </a:p>
          <a:p>
            <a:pPr indent="0" lvl="0" marL="0" rtl="0" algn="l">
              <a:spcBef>
                <a:spcPts val="1200"/>
              </a:spcBef>
              <a:spcAft>
                <a:spcPts val="0"/>
              </a:spcAft>
              <a:buNone/>
            </a:pPr>
            <a:r>
              <a:rPr lang="en-GB"/>
              <a:t>Step 10: Compute SSD:</a:t>
            </a:r>
            <a:endParaRPr/>
          </a:p>
          <a:p>
            <a:pPr indent="0" lvl="0" marL="0" rtl="0" algn="l">
              <a:spcBef>
                <a:spcPts val="1200"/>
              </a:spcBef>
              <a:spcAft>
                <a:spcPts val="0"/>
              </a:spcAft>
              <a:buNone/>
            </a:pPr>
            <a:r>
              <a:rPr lang="en-GB"/>
              <a:t>SSD = LD + BD.</a:t>
            </a:r>
            <a:endParaRPr/>
          </a:p>
          <a:p>
            <a:pPr indent="0" lvl="0" marL="0" rtl="0" algn="l">
              <a:spcBef>
                <a:spcPts val="1200"/>
              </a:spcBef>
              <a:spcAft>
                <a:spcPts val="0"/>
              </a:spcAft>
              <a:buNone/>
            </a:pPr>
            <a:r>
              <a:rPr lang="en-GB"/>
              <a:t>Step 11: Output: Display LD, BD, SSD with units (meters).</a:t>
            </a:r>
            <a:endParaRPr/>
          </a:p>
          <a:p>
            <a:pPr indent="0" lvl="0" marL="0" rtl="0" algn="l">
              <a:spcBef>
                <a:spcPts val="1200"/>
              </a:spcBef>
              <a:spcAft>
                <a:spcPts val="0"/>
              </a:spcAft>
              <a:buNone/>
            </a:pPr>
            <a:r>
              <a:rPr lang="en-GB"/>
              <a:t>Step 12: End.</a:t>
            </a:r>
            <a:endParaRPr/>
          </a:p>
          <a:p>
            <a:pPr indent="0" lvl="0" marL="0" rtl="0" algn="l">
              <a:spcBef>
                <a:spcPts val="1200"/>
              </a:spcBef>
              <a:spcAft>
                <a:spcPts val="0"/>
              </a:spcAft>
              <a:buNone/>
            </a:pPr>
            <a:r>
              <a:rPr lang="en-GB" sz="1500"/>
              <a:t>Soil Bearing Capacity Checker</a:t>
            </a:r>
            <a:r>
              <a:rPr lang="en-GB"/>
              <a:t> — Step-wise</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Read input: Ask user to enter applied total vertical load P in kN.</a:t>
            </a:r>
            <a:endParaRPr/>
          </a:p>
          <a:p>
            <a:pPr indent="0" lvl="0" marL="0" rtl="0" algn="l">
              <a:spcBef>
                <a:spcPts val="1200"/>
              </a:spcBef>
              <a:spcAft>
                <a:spcPts val="0"/>
              </a:spcAft>
              <a:buNone/>
            </a:pPr>
            <a:r>
              <a:rPr lang="en-GB"/>
              <a:t>Step 3: Read input: Ask user to enter footing area A in m².</a:t>
            </a:r>
            <a:endParaRPr/>
          </a:p>
          <a:p>
            <a:pPr indent="0" lvl="0" marL="0" rtl="0" algn="l">
              <a:spcBef>
                <a:spcPts val="1200"/>
              </a:spcBef>
              <a:spcAft>
                <a:spcPts val="0"/>
              </a:spcAft>
              <a:buNone/>
            </a:pPr>
            <a:r>
              <a:rPr lang="en-GB"/>
              <a:t>Step 4: Validate inputs: Ensure P ≥ 0 and A &gt; 0. If invalid show error and stop.</a:t>
            </a:r>
            <a:endParaRPr/>
          </a:p>
          <a:p>
            <a:pPr indent="0" lvl="0" marL="0" rtl="0" algn="l">
              <a:spcBef>
                <a:spcPts val="1200"/>
              </a:spcBef>
              <a:spcAft>
                <a:spcPts val="0"/>
              </a:spcAft>
              <a:buNone/>
            </a:pPr>
            <a:r>
              <a:rPr lang="en-GB"/>
              <a:t>Step 5: Compute ultimate bearing pressure q = P / A (kN/m²).</a:t>
            </a:r>
            <a:endParaRPr/>
          </a:p>
          <a:p>
            <a:pPr indent="0" lvl="0" marL="0" rtl="0" algn="l">
              <a:spcBef>
                <a:spcPts val="1200"/>
              </a:spcBef>
              <a:spcAft>
                <a:spcPts val="1200"/>
              </a:spcAft>
              <a:buNone/>
            </a:pPr>
            <a:r>
              <a:rPr lang="en-GB"/>
              <a:t>Step 6: Apply factor of safety (optional): If user supplies FS (typical 2.5–3), compute allowable / safe bearing capacity SBC = q / FS. If no FS, assume SBC = q and note it is unfactored.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idx="1" type="body"/>
          </p:nvPr>
        </p:nvSpPr>
        <p:spPr>
          <a:xfrm>
            <a:off x="658100" y="320100"/>
            <a:ext cx="8194500" cy="450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7: Classify soil (example thresholds):</a:t>
            </a:r>
            <a:endParaRPr/>
          </a:p>
          <a:p>
            <a:pPr indent="0" lvl="0" marL="0" rtl="0" algn="l">
              <a:spcBef>
                <a:spcPts val="1200"/>
              </a:spcBef>
              <a:spcAft>
                <a:spcPts val="0"/>
              </a:spcAft>
              <a:buNone/>
            </a:pPr>
            <a:r>
              <a:rPr lang="en-GB"/>
              <a:t>If SBC ≤ 100 kN/m² → “Weak soil”</a:t>
            </a:r>
            <a:endParaRPr/>
          </a:p>
          <a:p>
            <a:pPr indent="0" lvl="0" marL="0" rtl="0" algn="l">
              <a:spcBef>
                <a:spcPts val="1200"/>
              </a:spcBef>
              <a:spcAft>
                <a:spcPts val="0"/>
              </a:spcAft>
              <a:buNone/>
            </a:pPr>
            <a:r>
              <a:rPr lang="en-GB"/>
              <a:t>If 100 &lt; SBC ≤ 200 kN/m² → “Medium strength”</a:t>
            </a:r>
            <a:endParaRPr/>
          </a:p>
          <a:p>
            <a:pPr indent="0" lvl="0" marL="0" rtl="0" algn="l">
              <a:spcBef>
                <a:spcPts val="1200"/>
              </a:spcBef>
              <a:spcAft>
                <a:spcPts val="0"/>
              </a:spcAft>
              <a:buNone/>
            </a:pPr>
            <a:r>
              <a:rPr lang="en-GB"/>
              <a:t>If SBC &gt; 200 kN/m² → “Strong soil”</a:t>
            </a:r>
            <a:endParaRPr/>
          </a:p>
          <a:p>
            <a:pPr indent="0" lvl="0" marL="0" rtl="0" algn="l">
              <a:spcBef>
                <a:spcPts val="1200"/>
              </a:spcBef>
              <a:spcAft>
                <a:spcPts val="0"/>
              </a:spcAft>
              <a:buNone/>
            </a:pPr>
            <a:r>
              <a:rPr lang="en-GB"/>
              <a:t>(Mention these are example thresholds — user may change them.)</a:t>
            </a:r>
            <a:endParaRPr/>
          </a:p>
          <a:p>
            <a:pPr indent="0" lvl="0" marL="0" rtl="0" algn="l">
              <a:spcBef>
                <a:spcPts val="1200"/>
              </a:spcBef>
              <a:spcAft>
                <a:spcPts val="0"/>
              </a:spcAft>
              <a:buNone/>
            </a:pPr>
            <a:r>
              <a:rPr lang="en-GB"/>
              <a:t>Step 8: Output: Display q, SBC (if FS used), and classification. Include units (kN/m²).</a:t>
            </a:r>
            <a:endParaRPr/>
          </a:p>
          <a:p>
            <a:pPr indent="0" lvl="0" marL="0" rtl="0" algn="l">
              <a:spcBef>
                <a:spcPts val="1200"/>
              </a:spcBef>
              <a:spcAft>
                <a:spcPts val="0"/>
              </a:spcAft>
              <a:buNone/>
            </a:pPr>
            <a:r>
              <a:rPr lang="en-GB"/>
              <a:t>Step 9: End.</a:t>
            </a:r>
            <a:endParaRPr/>
          </a:p>
          <a:p>
            <a:pPr indent="0" lvl="0" marL="0" rtl="0" algn="l">
              <a:spcBef>
                <a:spcPts val="1200"/>
              </a:spcBef>
              <a:spcAft>
                <a:spcPts val="0"/>
              </a:spcAft>
              <a:buNone/>
            </a:pPr>
            <a:r>
              <a:rPr lang="en-GB"/>
              <a:t>Water Tank Volume Calculator — Step-wise (Menu + two shapes)</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Display menu:</a:t>
            </a:r>
            <a:endParaRPr/>
          </a:p>
          <a:p>
            <a:pPr indent="0" lvl="0" marL="0" rtl="0" algn="l">
              <a:spcBef>
                <a:spcPts val="1200"/>
              </a:spcBef>
              <a:spcAft>
                <a:spcPts val="0"/>
              </a:spcAft>
              <a:buNone/>
            </a:pPr>
            <a:r>
              <a:rPr lang="en-GB"/>
              <a:t>1. Rectangular tank</a:t>
            </a:r>
            <a:endParaRPr/>
          </a:p>
          <a:p>
            <a:pPr indent="0" lvl="0" marL="0" rtl="0" algn="l">
              <a:spcBef>
                <a:spcPts val="1200"/>
              </a:spcBef>
              <a:spcAft>
                <a:spcPts val="0"/>
              </a:spcAft>
              <a:buNone/>
            </a:pPr>
            <a:r>
              <a:rPr lang="en-GB"/>
              <a:t>2. Cylindrical tank</a:t>
            </a:r>
            <a:endParaRPr/>
          </a:p>
          <a:p>
            <a:pPr indent="0" lvl="0" marL="0" rtl="0" algn="l">
              <a:spcBef>
                <a:spcPts val="1200"/>
              </a:spcBef>
              <a:spcAft>
                <a:spcPts val="1200"/>
              </a:spcAft>
              <a:buNone/>
            </a:pPr>
            <a:r>
              <a:rPr lang="en-GB"/>
              <a:t>Step 3: Read input: User selects choice (1 or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1" type="body"/>
          </p:nvPr>
        </p:nvSpPr>
        <p:spPr>
          <a:xfrm>
            <a:off x="830700" y="545075"/>
            <a:ext cx="7495800" cy="389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4:Validate choice: If invalid show error and return to menu or stop.</a:t>
            </a:r>
            <a:endParaRPr/>
          </a:p>
          <a:p>
            <a:pPr indent="0" lvl="0" marL="0" rtl="0" algn="l">
              <a:spcBef>
                <a:spcPts val="1200"/>
              </a:spcBef>
              <a:spcAft>
                <a:spcPts val="0"/>
              </a:spcAft>
              <a:buNone/>
            </a:pPr>
            <a:r>
              <a:rPr lang="en-GB"/>
              <a:t>If choice = 1 (Rectangular):</a:t>
            </a:r>
            <a:endParaRPr/>
          </a:p>
          <a:p>
            <a:pPr indent="0" lvl="0" marL="0" rtl="0" algn="l">
              <a:spcBef>
                <a:spcPts val="1200"/>
              </a:spcBef>
              <a:spcAft>
                <a:spcPts val="0"/>
              </a:spcAft>
              <a:buNone/>
            </a:pPr>
            <a:r>
              <a:rPr lang="en-GB"/>
              <a:t>5. Read length L (m).</a:t>
            </a:r>
            <a:endParaRPr/>
          </a:p>
          <a:p>
            <a:pPr indent="0" lvl="0" marL="0" rtl="0" algn="l">
              <a:spcBef>
                <a:spcPts val="1200"/>
              </a:spcBef>
              <a:spcAft>
                <a:spcPts val="0"/>
              </a:spcAft>
              <a:buNone/>
            </a:pPr>
            <a:r>
              <a:rPr lang="en-GB"/>
              <a:t>6. Read width W (m).</a:t>
            </a:r>
            <a:endParaRPr/>
          </a:p>
          <a:p>
            <a:pPr indent="0" lvl="0" marL="0" rtl="0" algn="l">
              <a:spcBef>
                <a:spcPts val="1200"/>
              </a:spcBef>
              <a:spcAft>
                <a:spcPts val="0"/>
              </a:spcAft>
              <a:buNone/>
            </a:pPr>
            <a:r>
              <a:rPr lang="en-GB"/>
              <a:t>7. Read height H (m).</a:t>
            </a:r>
            <a:endParaRPr/>
          </a:p>
          <a:p>
            <a:pPr indent="0" lvl="0" marL="0" rtl="0" algn="l">
              <a:spcBef>
                <a:spcPts val="1200"/>
              </a:spcBef>
              <a:spcAft>
                <a:spcPts val="0"/>
              </a:spcAft>
              <a:buNone/>
            </a:pPr>
            <a:r>
              <a:rPr lang="en-GB"/>
              <a:t>8. Validate L&gt;0, W&gt;0, H&gt;0 — if not, show error and stop.</a:t>
            </a:r>
            <a:endParaRPr/>
          </a:p>
          <a:p>
            <a:pPr indent="0" lvl="0" marL="0" rtl="0" algn="l">
              <a:spcBef>
                <a:spcPts val="1200"/>
              </a:spcBef>
              <a:spcAft>
                <a:spcPts val="0"/>
              </a:spcAft>
              <a:buNone/>
            </a:pPr>
            <a:r>
              <a:rPr lang="en-GB"/>
              <a:t>9. Compute Volume V = L × W × H (m³).</a:t>
            </a:r>
            <a:endParaRPr/>
          </a:p>
          <a:p>
            <a:pPr indent="0" lvl="0" marL="0" rtl="0" algn="l">
              <a:spcBef>
                <a:spcPts val="1200"/>
              </a:spcBef>
              <a:spcAft>
                <a:spcPts val="0"/>
              </a:spcAft>
              <a:buNone/>
            </a:pPr>
            <a:r>
              <a:rPr lang="en-GB"/>
              <a:t>10. Optionally compute litres = V × 1000.</a:t>
            </a:r>
            <a:endParaRPr/>
          </a:p>
          <a:p>
            <a:pPr indent="0" lvl="0" marL="0" rtl="0" algn="l">
              <a:spcBef>
                <a:spcPts val="1200"/>
              </a:spcBef>
              <a:spcAft>
                <a:spcPts val="0"/>
              </a:spcAft>
              <a:buNone/>
            </a:pPr>
            <a:r>
              <a:rPr lang="en-GB"/>
              <a:t>11. Display V (m³) and litres.</a:t>
            </a:r>
            <a:endParaRPr/>
          </a:p>
          <a:p>
            <a:pPr indent="0" lvl="0" marL="0" rtl="0" algn="l">
              <a:spcBef>
                <a:spcPts val="1200"/>
              </a:spcBef>
              <a:spcAft>
                <a:spcPts val="0"/>
              </a:spcAft>
              <a:buNone/>
            </a:pPr>
            <a:r>
              <a:rPr lang="en-GB"/>
              <a:t>12. End.</a:t>
            </a:r>
            <a:endParaRPr/>
          </a:p>
          <a:p>
            <a:pPr indent="0" lvl="0" marL="0" rtl="0" algn="l">
              <a:spcBef>
                <a:spcPts val="1200"/>
              </a:spcBef>
              <a:spcAft>
                <a:spcPts val="1200"/>
              </a:spcAft>
              <a:buNone/>
            </a:pPr>
            <a:r>
              <a:rPr lang="en-GB"/>
              <a:t>If choice = 2 (Cylindrical):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idx="1" type="body"/>
          </p:nvPr>
        </p:nvSpPr>
        <p:spPr>
          <a:xfrm>
            <a:off x="830700" y="586950"/>
            <a:ext cx="6962100" cy="38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5. Read radius r (m) or diameter d (m). If diameter given, set r = d/2.</a:t>
            </a:r>
            <a:endParaRPr/>
          </a:p>
          <a:p>
            <a:pPr indent="0" lvl="0" marL="0" rtl="0" algn="l">
              <a:spcBef>
                <a:spcPts val="1200"/>
              </a:spcBef>
              <a:spcAft>
                <a:spcPts val="0"/>
              </a:spcAft>
              <a:buNone/>
            </a:pPr>
            <a:r>
              <a:rPr lang="en-GB"/>
              <a:t>6. Read height h (m).</a:t>
            </a:r>
            <a:endParaRPr/>
          </a:p>
          <a:p>
            <a:pPr indent="0" lvl="0" marL="0" rtl="0" algn="l">
              <a:spcBef>
                <a:spcPts val="1200"/>
              </a:spcBef>
              <a:spcAft>
                <a:spcPts val="0"/>
              </a:spcAft>
              <a:buNone/>
            </a:pPr>
            <a:r>
              <a:rPr lang="en-GB"/>
              <a:t>7. Validate r&gt;0 and h&gt;0 — if not, show error and stop.</a:t>
            </a:r>
            <a:endParaRPr/>
          </a:p>
          <a:p>
            <a:pPr indent="0" lvl="0" marL="0" rtl="0" algn="l">
              <a:spcBef>
                <a:spcPts val="1200"/>
              </a:spcBef>
              <a:spcAft>
                <a:spcPts val="0"/>
              </a:spcAft>
              <a:buNone/>
            </a:pPr>
            <a:r>
              <a:rPr lang="en-GB"/>
              <a:t>8. Compute Volume V = π × r² × h (use π = 3.14159265).</a:t>
            </a:r>
            <a:endParaRPr/>
          </a:p>
          <a:p>
            <a:pPr indent="0" lvl="0" marL="0" rtl="0" algn="l">
              <a:spcBef>
                <a:spcPts val="1200"/>
              </a:spcBef>
              <a:spcAft>
                <a:spcPts val="0"/>
              </a:spcAft>
              <a:buNone/>
            </a:pPr>
            <a:r>
              <a:rPr lang="en-GB"/>
              <a:t>9. Optionally compute litres = V × 1000.</a:t>
            </a:r>
            <a:endParaRPr/>
          </a:p>
          <a:p>
            <a:pPr indent="0" lvl="0" marL="0" rtl="0" algn="l">
              <a:spcBef>
                <a:spcPts val="1200"/>
              </a:spcBef>
              <a:spcAft>
                <a:spcPts val="0"/>
              </a:spcAft>
              <a:buNone/>
            </a:pPr>
            <a:r>
              <a:rPr lang="en-GB"/>
              <a:t>10. Display V (m³) and litres.</a:t>
            </a:r>
            <a:endParaRPr/>
          </a:p>
          <a:p>
            <a:pPr indent="0" lvl="0" marL="0" rtl="0" algn="l">
              <a:spcBef>
                <a:spcPts val="1200"/>
              </a:spcBef>
              <a:spcAft>
                <a:spcPts val="0"/>
              </a:spcAft>
              <a:buNone/>
            </a:pPr>
            <a:r>
              <a:rPr lang="en-GB"/>
              <a:t>11. End.</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FLOWCHART:</a:t>
            </a:r>
            <a:endParaRPr/>
          </a:p>
        </p:txBody>
      </p:sp>
      <p:pic>
        <p:nvPicPr>
          <p:cNvPr id="173" name="Google Shape;173;p21"/>
          <p:cNvPicPr preferRelativeResize="0"/>
          <p:nvPr/>
        </p:nvPicPr>
        <p:blipFill>
          <a:blip r:embed="rId3">
            <a:alphaModFix/>
          </a:blip>
          <a:stretch>
            <a:fillRect/>
          </a:stretch>
        </p:blipFill>
        <p:spPr>
          <a:xfrm>
            <a:off x="3804859" y="-3"/>
            <a:ext cx="3429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819150" y="845600"/>
            <a:ext cx="3709200" cy="13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MODULES for the Project:</a:t>
            </a:r>
            <a:endParaRPr/>
          </a:p>
          <a:p>
            <a:pPr indent="0" lvl="0" marL="0" rtl="0" algn="l">
              <a:spcBef>
                <a:spcPts val="0"/>
              </a:spcBef>
              <a:spcAft>
                <a:spcPts val="0"/>
              </a:spcAft>
              <a:buNone/>
            </a:pPr>
            <a:r>
              <a:t/>
            </a:r>
            <a:endParaRPr/>
          </a:p>
        </p:txBody>
      </p:sp>
      <p:sp>
        <p:nvSpPr>
          <p:cNvPr id="179" name="Google Shape;179;p22"/>
          <p:cNvSpPr txBox="1"/>
          <p:nvPr>
            <p:ph idx="1" type="body"/>
          </p:nvPr>
        </p:nvSpPr>
        <p:spPr>
          <a:xfrm>
            <a:off x="1303800" y="1607850"/>
            <a:ext cx="4195200" cy="31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1. </a:t>
            </a:r>
            <a:r>
              <a:rPr lang="en-GB" sz="2400"/>
              <a:t>Stopping Sight Distance (SSD).</a:t>
            </a:r>
            <a:endParaRPr sz="2400"/>
          </a:p>
          <a:p>
            <a:pPr indent="0" lvl="0" marL="0" rtl="0" algn="l">
              <a:spcBef>
                <a:spcPts val="1200"/>
              </a:spcBef>
              <a:spcAft>
                <a:spcPts val="0"/>
              </a:spcAft>
              <a:buNone/>
            </a:pPr>
            <a:r>
              <a:rPr lang="en-GB" sz="2400"/>
              <a:t>2. Soil Bearing Capacity Checker </a:t>
            </a:r>
            <a:endParaRPr sz="2400"/>
          </a:p>
          <a:p>
            <a:pPr indent="0" lvl="0" marL="0" rtl="0" algn="l">
              <a:spcBef>
                <a:spcPts val="1200"/>
              </a:spcBef>
              <a:spcAft>
                <a:spcPts val="0"/>
              </a:spcAft>
              <a:buNone/>
            </a:pPr>
            <a:r>
              <a:rPr lang="en-GB" sz="2400"/>
              <a:t>3. Water Tank Volume Calculator.</a:t>
            </a:r>
            <a:endParaRPr sz="24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Road Curve Design – Stopping Sight Distance (SSD)</a:t>
            </a:r>
            <a:endParaRPr/>
          </a:p>
          <a:p>
            <a:pPr indent="0" lvl="0" marL="0" rtl="0" algn="l">
              <a:spcBef>
                <a:spcPts val="0"/>
              </a:spcBef>
              <a:spcAft>
                <a:spcPts val="0"/>
              </a:spcAft>
              <a:buNone/>
            </a:pPr>
            <a:r>
              <a:t/>
            </a:r>
            <a:endParaRPr/>
          </a:p>
        </p:txBody>
      </p:sp>
      <p:sp>
        <p:nvSpPr>
          <p:cNvPr id="185" name="Google Shape;185;p23"/>
          <p:cNvSpPr txBox="1"/>
          <p:nvPr>
            <p:ph idx="1" type="body"/>
          </p:nvPr>
        </p:nvSpPr>
        <p:spPr>
          <a:xfrm>
            <a:off x="819150" y="1800200"/>
            <a:ext cx="3003600" cy="30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Design speed</a:t>
            </a:r>
            <a:endParaRPr sz="1100"/>
          </a:p>
          <a:p>
            <a:pPr indent="0" lvl="0" marL="0" rtl="0" algn="l">
              <a:spcBef>
                <a:spcPts val="1200"/>
              </a:spcBef>
              <a:spcAft>
                <a:spcPts val="0"/>
              </a:spcAft>
              <a:buNone/>
            </a:pPr>
            <a:r>
              <a:rPr lang="en-GB" sz="1100"/>
              <a:t>Brake reaction time</a:t>
            </a:r>
            <a:endParaRPr sz="1100"/>
          </a:p>
          <a:p>
            <a:pPr indent="0" lvl="0" marL="0" rtl="0" algn="l">
              <a:spcBef>
                <a:spcPts val="1200"/>
              </a:spcBef>
              <a:spcAft>
                <a:spcPts val="0"/>
              </a:spcAft>
              <a:buNone/>
            </a:pPr>
            <a:r>
              <a:rPr lang="en-GB" sz="1100"/>
              <a:t>Coefficient of friction</a:t>
            </a:r>
            <a:endParaRPr sz="1100"/>
          </a:p>
          <a:p>
            <a:pPr indent="0" lvl="0" marL="0" rtl="0" algn="l">
              <a:spcBef>
                <a:spcPts val="1200"/>
              </a:spcBef>
              <a:spcAft>
                <a:spcPts val="0"/>
              </a:spcAft>
              <a:buNone/>
            </a:pPr>
            <a:r>
              <a:rPr lang="en-GB" sz="1100"/>
              <a:t>Gradient</a:t>
            </a:r>
            <a:endParaRPr sz="1100"/>
          </a:p>
          <a:p>
            <a:pPr indent="0" lvl="0" marL="0" rtl="0" algn="l">
              <a:spcBef>
                <a:spcPts val="1200"/>
              </a:spcBef>
              <a:spcAft>
                <a:spcPts val="0"/>
              </a:spcAft>
              <a:buNone/>
            </a:pPr>
            <a:r>
              <a:rPr lang="en-GB" sz="1100"/>
              <a:t>Module 2: SSD Calculation Module</a:t>
            </a:r>
            <a:endParaRPr sz="1100"/>
          </a:p>
          <a:p>
            <a:pPr indent="0" lvl="0" marL="0" rtl="0" algn="l">
              <a:spcBef>
                <a:spcPts val="1200"/>
              </a:spcBef>
              <a:spcAft>
                <a:spcPts val="0"/>
              </a:spcAft>
              <a:buNone/>
            </a:pPr>
            <a:r>
              <a:rPr lang="en-GB" sz="1100"/>
              <a:t>Perception–reaction distance</a:t>
            </a:r>
            <a:endParaRPr sz="1100"/>
          </a:p>
          <a:p>
            <a:pPr indent="0" lvl="0" marL="0" rtl="0" algn="l">
              <a:spcBef>
                <a:spcPts val="1200"/>
              </a:spcBef>
              <a:spcAft>
                <a:spcPts val="0"/>
              </a:spcAft>
              <a:buNone/>
            </a:pPr>
            <a:r>
              <a:rPr lang="en-GB" sz="1100"/>
              <a:t>Braking distance</a:t>
            </a:r>
            <a:endParaRPr sz="1100"/>
          </a:p>
          <a:p>
            <a:pPr indent="0" lvl="0" marL="0" rtl="0" algn="l">
              <a:spcBef>
                <a:spcPts val="1200"/>
              </a:spcBef>
              <a:spcAft>
                <a:spcPts val="0"/>
              </a:spcAft>
              <a:buNone/>
            </a:pPr>
            <a:r>
              <a:rPr lang="en-GB" sz="1100"/>
              <a:t>Total Stopping Sight Distance (SSD)</a:t>
            </a:r>
            <a:endParaRPr sz="1100"/>
          </a:p>
          <a:p>
            <a:pPr indent="0" lvl="0" marL="0" rtl="0" algn="l">
              <a:spcBef>
                <a:spcPts val="1200"/>
              </a:spcBef>
              <a:spcAft>
                <a:spcPts val="1200"/>
              </a:spcAft>
              <a:buNone/>
            </a:pPr>
            <a:r>
              <a:t/>
            </a:r>
            <a:endParaRPr/>
          </a:p>
        </p:txBody>
      </p:sp>
      <p:sp>
        <p:nvSpPr>
          <p:cNvPr id="186" name="Google Shape;186;p23"/>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Reaction distance</a:t>
            </a:r>
            <a:endParaRPr/>
          </a:p>
          <a:p>
            <a:pPr indent="0" lvl="0" marL="0" rtl="0" algn="l">
              <a:spcBef>
                <a:spcPts val="1200"/>
              </a:spcBef>
              <a:spcAft>
                <a:spcPts val="0"/>
              </a:spcAft>
              <a:buNone/>
            </a:pPr>
            <a:r>
              <a:rPr lang="en-GB"/>
              <a:t>Braking distance</a:t>
            </a:r>
            <a:endParaRPr/>
          </a:p>
          <a:p>
            <a:pPr indent="0" lvl="0" marL="0" rtl="0" algn="l">
              <a:spcBef>
                <a:spcPts val="1200"/>
              </a:spcBef>
              <a:spcAft>
                <a:spcPts val="0"/>
              </a:spcAft>
              <a:buNone/>
            </a:pPr>
            <a:r>
              <a:rPr lang="en-GB"/>
              <a:t>Final SSD result</a:t>
            </a:r>
            <a:endParaRPr/>
          </a:p>
          <a:p>
            <a:pPr indent="0" lvl="0" marL="0" rtl="0" algn="l">
              <a:spcBef>
                <a:spcPts val="1200"/>
              </a:spcBef>
              <a:spcAft>
                <a:spcPts val="0"/>
              </a:spcAft>
              <a:buNone/>
            </a:pPr>
            <a:r>
              <a:rPr lang="en-GB"/>
              <a:t>Safe/unsafe indication for road design</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Soil Bearing Capacity Checker</a:t>
            </a:r>
            <a:endParaRPr/>
          </a:p>
          <a:p>
            <a:pPr indent="0" lvl="0" marL="0" rtl="0" algn="l">
              <a:spcBef>
                <a:spcPts val="0"/>
              </a:spcBef>
              <a:spcAft>
                <a:spcPts val="0"/>
              </a:spcAft>
              <a:buNone/>
            </a:pPr>
            <a:r>
              <a:t/>
            </a:r>
            <a:endParaRPr/>
          </a:p>
        </p:txBody>
      </p:sp>
      <p:sp>
        <p:nvSpPr>
          <p:cNvPr id="192" name="Google Shape;192;p24"/>
          <p:cNvSpPr txBox="1"/>
          <p:nvPr>
            <p:ph idx="1" type="body"/>
          </p:nvPr>
        </p:nvSpPr>
        <p:spPr>
          <a:xfrm>
            <a:off x="819150" y="1515100"/>
            <a:ext cx="3686100" cy="29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Soil type</a:t>
            </a:r>
            <a:endParaRPr sz="1100"/>
          </a:p>
          <a:p>
            <a:pPr indent="0" lvl="0" marL="0" rtl="0" algn="l">
              <a:lnSpc>
                <a:spcPct val="100000"/>
              </a:lnSpc>
              <a:spcBef>
                <a:spcPts val="1200"/>
              </a:spcBef>
              <a:spcAft>
                <a:spcPts val="0"/>
              </a:spcAft>
              <a:buNone/>
            </a:pPr>
            <a:r>
              <a:rPr lang="en-GB" sz="1100"/>
              <a:t>Cohesion (c)</a:t>
            </a:r>
            <a:endParaRPr sz="1100"/>
          </a:p>
          <a:p>
            <a:pPr indent="0" lvl="0" marL="0" rtl="0" algn="l">
              <a:spcBef>
                <a:spcPts val="1200"/>
              </a:spcBef>
              <a:spcAft>
                <a:spcPts val="0"/>
              </a:spcAft>
              <a:buNone/>
            </a:pPr>
            <a:r>
              <a:rPr lang="en-GB" sz="1100"/>
              <a:t>Angle of internal friction (ϕ)</a:t>
            </a:r>
            <a:endParaRPr sz="1100"/>
          </a:p>
          <a:p>
            <a:pPr indent="0" lvl="0" marL="0" rtl="0" algn="l">
              <a:spcBef>
                <a:spcPts val="1200"/>
              </a:spcBef>
              <a:spcAft>
                <a:spcPts val="0"/>
              </a:spcAft>
              <a:buNone/>
            </a:pPr>
            <a:r>
              <a:rPr lang="en-GB" sz="1100"/>
              <a:t>Unit weight (γ)</a:t>
            </a:r>
            <a:endParaRPr sz="1100"/>
          </a:p>
          <a:p>
            <a:pPr indent="0" lvl="0" marL="0" rtl="0" algn="l">
              <a:spcBef>
                <a:spcPts val="1200"/>
              </a:spcBef>
              <a:spcAft>
                <a:spcPts val="0"/>
              </a:spcAft>
              <a:buNone/>
            </a:pPr>
            <a:r>
              <a:rPr lang="en-GB" sz="1100"/>
              <a:t>Foundation width (B)</a:t>
            </a:r>
            <a:endParaRPr sz="1100"/>
          </a:p>
          <a:p>
            <a:pPr indent="0" lvl="0" marL="0" rtl="0" algn="l">
              <a:spcBef>
                <a:spcPts val="1200"/>
              </a:spcBef>
              <a:spcAft>
                <a:spcPts val="0"/>
              </a:spcAft>
              <a:buNone/>
            </a:pPr>
            <a:r>
              <a:rPr lang="en-GB" sz="1100"/>
              <a:t>Foundation depth (D)</a:t>
            </a:r>
            <a:endParaRPr sz="1100"/>
          </a:p>
          <a:p>
            <a:pPr indent="0" lvl="0" marL="0" rtl="0" algn="l">
              <a:spcBef>
                <a:spcPts val="1200"/>
              </a:spcBef>
              <a:spcAft>
                <a:spcPts val="0"/>
              </a:spcAft>
              <a:buNone/>
            </a:pPr>
            <a:r>
              <a:rPr lang="en-GB" sz="1100"/>
              <a:t>Module 2: Bearing Capacity Calculation Module</a:t>
            </a:r>
            <a:endParaRPr sz="1100"/>
          </a:p>
          <a:p>
            <a:pPr indent="0" lvl="0" marL="0" rtl="0" algn="l">
              <a:spcBef>
                <a:spcPts val="1200"/>
              </a:spcBef>
              <a:spcAft>
                <a:spcPts val="1200"/>
              </a:spcAft>
              <a:buNone/>
            </a:pPr>
            <a:r>
              <a:t/>
            </a:r>
            <a:endParaRPr/>
          </a:p>
        </p:txBody>
      </p:sp>
      <p:sp>
        <p:nvSpPr>
          <p:cNvPr id="193" name="Google Shape;193;p24"/>
          <p:cNvSpPr txBox="1"/>
          <p:nvPr>
            <p:ph idx="2" type="body"/>
          </p:nvPr>
        </p:nvSpPr>
        <p:spPr>
          <a:xfrm>
            <a:off x="4638675" y="1515225"/>
            <a:ext cx="3686100" cy="2923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t>Terzaghi’s formula</a:t>
            </a:r>
            <a:endParaRPr sz="1100"/>
          </a:p>
          <a:p>
            <a:pPr indent="0" lvl="0" marL="0" rtl="0" algn="l">
              <a:spcBef>
                <a:spcPts val="1200"/>
              </a:spcBef>
              <a:spcAft>
                <a:spcPts val="0"/>
              </a:spcAft>
              <a:buNone/>
            </a:pPr>
            <a:r>
              <a:rPr lang="en-GB" sz="1100"/>
              <a:t>Calculates ultimate bearing capacity</a:t>
            </a:r>
            <a:endParaRPr sz="1100"/>
          </a:p>
          <a:p>
            <a:pPr indent="0" lvl="0" marL="0" rtl="0" algn="l">
              <a:spcBef>
                <a:spcPts val="1200"/>
              </a:spcBef>
              <a:spcAft>
                <a:spcPts val="0"/>
              </a:spcAft>
              <a:buNone/>
            </a:pPr>
            <a:r>
              <a:rPr lang="en-GB" sz="1100"/>
              <a:t>Calculates net and safe bearing capacity (using FOS)</a:t>
            </a:r>
            <a:endParaRPr sz="1100"/>
          </a:p>
          <a:p>
            <a:pPr indent="0" lvl="0" marL="0" rtl="0" algn="l">
              <a:spcBef>
                <a:spcPts val="1200"/>
              </a:spcBef>
              <a:spcAft>
                <a:spcPts val="0"/>
              </a:spcAft>
              <a:buNone/>
            </a:pPr>
            <a:r>
              <a:rPr lang="en-GB" sz="1100"/>
              <a:t>Module 3: Output Module</a:t>
            </a:r>
            <a:endParaRPr sz="1100"/>
          </a:p>
          <a:p>
            <a:pPr indent="0" lvl="0" marL="0" rtl="0" algn="l">
              <a:spcBef>
                <a:spcPts val="1200"/>
              </a:spcBef>
              <a:spcAft>
                <a:spcPts val="0"/>
              </a:spcAft>
              <a:buNone/>
            </a:pPr>
            <a:r>
              <a:rPr lang="en-GB" sz="1100"/>
              <a:t>Ultimate bearing capacity</a:t>
            </a:r>
            <a:endParaRPr sz="1100"/>
          </a:p>
          <a:p>
            <a:pPr indent="0" lvl="0" marL="0" rtl="0" algn="l">
              <a:spcBef>
                <a:spcPts val="1200"/>
              </a:spcBef>
              <a:spcAft>
                <a:spcPts val="0"/>
              </a:spcAft>
              <a:buNone/>
            </a:pPr>
            <a:r>
              <a:rPr lang="en-GB" sz="1100"/>
              <a:t>Net SBC</a:t>
            </a:r>
            <a:endParaRPr sz="1100"/>
          </a:p>
          <a:p>
            <a:pPr indent="0" lvl="0" marL="0" rtl="0" algn="l">
              <a:spcBef>
                <a:spcPts val="1200"/>
              </a:spcBef>
              <a:spcAft>
                <a:spcPts val="0"/>
              </a:spcAft>
              <a:buNone/>
            </a:pPr>
            <a:r>
              <a:rPr lang="en-GB" sz="1100"/>
              <a:t>Safe SBC</a:t>
            </a:r>
            <a:endParaRPr sz="1100"/>
          </a:p>
          <a:p>
            <a:pPr indent="0" lvl="0" marL="0" rtl="0" algn="l">
              <a:spcBef>
                <a:spcPts val="1200"/>
              </a:spcBef>
              <a:spcAft>
                <a:spcPts val="0"/>
              </a:spcAft>
              <a:buNone/>
            </a:pPr>
            <a:r>
              <a:rPr lang="en-GB" sz="1100"/>
              <a:t>Suitable foundation recommendation</a:t>
            </a:r>
            <a:endParaRPr sz="110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Water Tank Volume Calculator</a:t>
            </a:r>
            <a:endParaRPr/>
          </a:p>
          <a:p>
            <a:pPr indent="0" lvl="0" marL="0" rtl="0" algn="l">
              <a:spcBef>
                <a:spcPts val="0"/>
              </a:spcBef>
              <a:spcAft>
                <a:spcPts val="0"/>
              </a:spcAft>
              <a:buNone/>
            </a:pPr>
            <a:r>
              <a:t/>
            </a:r>
            <a:endParaRPr/>
          </a:p>
        </p:txBody>
      </p:sp>
      <p:sp>
        <p:nvSpPr>
          <p:cNvPr id="199" name="Google Shape;199;p2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Select tank type (rectangular/cylindrical)</a:t>
            </a:r>
            <a:endParaRPr sz="1100"/>
          </a:p>
          <a:p>
            <a:pPr indent="0" lvl="0" marL="0" rtl="0" algn="l">
              <a:spcBef>
                <a:spcPts val="1200"/>
              </a:spcBef>
              <a:spcAft>
                <a:spcPts val="0"/>
              </a:spcAft>
              <a:buNone/>
            </a:pPr>
            <a:r>
              <a:rPr lang="en-GB" sz="1100"/>
              <a:t>Rectangular: Length, Width, Height</a:t>
            </a:r>
            <a:endParaRPr sz="1100"/>
          </a:p>
          <a:p>
            <a:pPr indent="0" lvl="0" marL="0" rtl="0" algn="l">
              <a:spcBef>
                <a:spcPts val="1200"/>
              </a:spcBef>
              <a:spcAft>
                <a:spcPts val="0"/>
              </a:spcAft>
              <a:buNone/>
            </a:pPr>
            <a:r>
              <a:rPr lang="en-GB" sz="1100"/>
              <a:t>Cylindrical: Radius, Height</a:t>
            </a:r>
            <a:endParaRPr sz="1100"/>
          </a:p>
          <a:p>
            <a:pPr indent="0" lvl="0" marL="0" rtl="0" algn="l">
              <a:spcBef>
                <a:spcPts val="1200"/>
              </a:spcBef>
              <a:spcAft>
                <a:spcPts val="0"/>
              </a:spcAft>
              <a:buNone/>
            </a:pPr>
            <a:r>
              <a:rPr lang="en-GB" sz="1100"/>
              <a:t>Module 2: Volume Calculation Module</a:t>
            </a:r>
            <a:endParaRPr sz="1100"/>
          </a:p>
          <a:p>
            <a:pPr indent="0" lvl="0" marL="0" rtl="0" algn="l">
              <a:spcBef>
                <a:spcPts val="1200"/>
              </a:spcBef>
              <a:spcAft>
                <a:spcPts val="0"/>
              </a:spcAft>
              <a:buNone/>
            </a:pPr>
            <a:r>
              <a:rPr lang="en-GB" sz="1100"/>
              <a:t>Volume in m³</a:t>
            </a:r>
            <a:endParaRPr sz="1100"/>
          </a:p>
          <a:p>
            <a:pPr indent="0" lvl="0" marL="0" rtl="0" algn="l">
              <a:spcBef>
                <a:spcPts val="1200"/>
              </a:spcBef>
              <a:spcAft>
                <a:spcPts val="0"/>
              </a:spcAft>
              <a:buNone/>
            </a:pPr>
            <a:r>
              <a:rPr lang="en-GB" sz="1100"/>
              <a:t>Converts to litres</a:t>
            </a:r>
            <a:endParaRPr sz="1100"/>
          </a:p>
          <a:p>
            <a:pPr indent="0" lvl="0" marL="0" rtl="0" algn="l">
              <a:spcBef>
                <a:spcPts val="1200"/>
              </a:spcBef>
              <a:spcAft>
                <a:spcPts val="1200"/>
              </a:spcAft>
              <a:buNone/>
            </a:pPr>
            <a:r>
              <a:t/>
            </a:r>
            <a:endParaRPr/>
          </a:p>
        </p:txBody>
      </p:sp>
      <p:sp>
        <p:nvSpPr>
          <p:cNvPr id="200" name="Google Shape;200;p2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Volume in cubic meters</a:t>
            </a:r>
            <a:endParaRPr/>
          </a:p>
          <a:p>
            <a:pPr indent="0" lvl="0" marL="0" rtl="0" algn="l">
              <a:spcBef>
                <a:spcPts val="1200"/>
              </a:spcBef>
              <a:spcAft>
                <a:spcPts val="0"/>
              </a:spcAft>
              <a:buNone/>
            </a:pPr>
            <a:r>
              <a:rPr lang="en-GB"/>
              <a:t>Volume in litres</a:t>
            </a:r>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06" name="Google Shape;206;p26"/>
          <p:cNvSpPr txBox="1"/>
          <p:nvPr>
            <p:ph idx="1" type="body"/>
          </p:nvPr>
        </p:nvSpPr>
        <p:spPr>
          <a:xfrm>
            <a:off x="819151" y="1800200"/>
            <a:ext cx="7904400" cy="2448000"/>
          </a:xfrm>
          <a:prstGeom prst="rect">
            <a:avLst/>
          </a:prstGeom>
        </p:spPr>
        <p:txBody>
          <a:bodyPr anchorCtr="0" anchor="t" bIns="91425" lIns="91425" spcFirstLastPara="1" rIns="91425" wrap="square" tIns="91425">
            <a:normAutofit fontScale="92500"/>
          </a:bodyPr>
          <a:lstStyle/>
          <a:p>
            <a:pPr indent="0" lvl="0" marL="0" rtl="0" algn="just">
              <a:spcBef>
                <a:spcPts val="0"/>
              </a:spcBef>
              <a:spcAft>
                <a:spcPts val="0"/>
              </a:spcAft>
              <a:buNone/>
            </a:pPr>
            <a:r>
              <a:rPr lang="en-GB" sz="1800"/>
              <a:t>1. The program uses a menu-driven approach implemented inside an infinite while loop.</a:t>
            </a:r>
            <a:endParaRPr sz="1800"/>
          </a:p>
          <a:p>
            <a:pPr indent="0" lvl="0" marL="0" rtl="0" algn="just">
              <a:spcBef>
                <a:spcPts val="1200"/>
              </a:spcBef>
              <a:spcAft>
                <a:spcPts val="0"/>
              </a:spcAft>
              <a:buNone/>
            </a:pPr>
            <a:r>
              <a:rPr lang="en-GB" sz="1800"/>
              <a:t>2. A main control module displays the menu and accepts the user’s choice.</a:t>
            </a:r>
            <a:endParaRPr sz="1800"/>
          </a:p>
          <a:p>
            <a:pPr indent="0" lvl="0" marL="0" rtl="0" algn="just">
              <a:spcBef>
                <a:spcPts val="1200"/>
              </a:spcBef>
              <a:spcAft>
                <a:spcPts val="0"/>
              </a:spcAft>
              <a:buNone/>
            </a:pPr>
            <a:r>
              <a:rPr lang="en-GB" sz="1800"/>
              <a:t>3. The switch-case structure integrates all computation modules in a single program.</a:t>
            </a:r>
            <a:endParaRPr sz="1800"/>
          </a:p>
          <a:p>
            <a:pPr indent="0" lvl="0" marL="0" rtl="0" algn="just">
              <a:spcBef>
                <a:spcPts val="1200"/>
              </a:spcBef>
              <a:spcAft>
                <a:spcPts val="0"/>
              </a:spcAft>
              <a:buNone/>
            </a:pPr>
            <a:r>
              <a:rPr lang="en-GB" sz="1800"/>
              <a:t>4. Case 1 integrates the SSD module, which calculates the Stopping Sight Distance based on user inputs.</a:t>
            </a:r>
            <a:endParaRPr sz="18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12" name="Google Shape;212;p27"/>
          <p:cNvSpPr txBox="1"/>
          <p:nvPr>
            <p:ph idx="1" type="body"/>
          </p:nvPr>
        </p:nvSpPr>
        <p:spPr>
          <a:xfrm>
            <a:off x="819150" y="1516650"/>
            <a:ext cx="7505700" cy="292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5. Case 2 integrates the Soil Bearing Capacity module, which checks whether the foundation is safe or unsafe.</a:t>
            </a:r>
            <a:endParaRPr sz="1800"/>
          </a:p>
          <a:p>
            <a:pPr indent="0" lvl="0" marL="0" rtl="0" algn="l">
              <a:lnSpc>
                <a:spcPct val="100000"/>
              </a:lnSpc>
              <a:spcBef>
                <a:spcPts val="1200"/>
              </a:spcBef>
              <a:spcAft>
                <a:spcPts val="0"/>
              </a:spcAft>
              <a:buNone/>
            </a:pPr>
            <a:r>
              <a:rPr lang="en-GB" sz="1800"/>
              <a:t>6. Case 3 integrates the Water Tank Volume module, which calculates the volume of rectangular or cylindrical tanks.</a:t>
            </a:r>
            <a:endParaRPr sz="1800"/>
          </a:p>
          <a:p>
            <a:pPr indent="0" lvl="0" marL="0" rtl="0" algn="l">
              <a:lnSpc>
                <a:spcPct val="100000"/>
              </a:lnSpc>
              <a:spcBef>
                <a:spcPts val="1200"/>
              </a:spcBef>
              <a:spcAft>
                <a:spcPts val="0"/>
              </a:spcAft>
              <a:buNone/>
            </a:pPr>
            <a:r>
              <a:rPr lang="en-GB" sz="1800"/>
              <a:t>7. Each module performs its calculation independently using local variables.</a:t>
            </a:r>
            <a:endParaRPr sz="1800"/>
          </a:p>
          <a:p>
            <a:pPr indent="0" lvl="0" marL="0" rtl="0" algn="l">
              <a:lnSpc>
                <a:spcPct val="100000"/>
              </a:lnSpc>
              <a:spcBef>
                <a:spcPts val="1200"/>
              </a:spcBef>
              <a:spcAft>
                <a:spcPts val="0"/>
              </a:spcAft>
              <a:buNone/>
            </a:pPr>
            <a:r>
              <a:rPr lang="en-GB" sz="1800"/>
              <a:t>8. After execution of any module, control returns to the main menu automatically.</a:t>
            </a:r>
            <a:endParaRPr sz="1800"/>
          </a:p>
          <a:p>
            <a:pPr indent="0" lvl="0" marL="0" rtl="0" algn="l">
              <a:lnSpc>
                <a:spcPct val="100000"/>
              </a:lnSpc>
              <a:spcBef>
                <a:spcPts val="1200"/>
              </a:spcBef>
              <a:spcAft>
                <a:spcPts val="1200"/>
              </a:spcAft>
              <a:buNone/>
            </a:pPr>
            <a:r>
              <a:rPr lang="en-GB" sz="1800"/>
              <a:t>9. Case 4 acts as the exit module, terminating the program safely.</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819150" y="342950"/>
            <a:ext cx="7505700" cy="67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INTEGRATION(CODE):</a:t>
            </a:r>
            <a:endParaRPr/>
          </a:p>
        </p:txBody>
      </p:sp>
      <p:sp>
        <p:nvSpPr>
          <p:cNvPr id="218" name="Google Shape;218;p28"/>
          <p:cNvSpPr txBox="1"/>
          <p:nvPr>
            <p:ph idx="1" type="body"/>
          </p:nvPr>
        </p:nvSpPr>
        <p:spPr>
          <a:xfrm>
            <a:off x="1047375" y="1019750"/>
            <a:ext cx="7505700" cy="385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#include &lt;stdio.h&gt;</a:t>
            </a:r>
            <a:endParaRPr/>
          </a:p>
          <a:p>
            <a:pPr indent="0" lvl="0" marL="0" rtl="0" algn="l">
              <a:spcBef>
                <a:spcPts val="1200"/>
              </a:spcBef>
              <a:spcAft>
                <a:spcPts val="0"/>
              </a:spcAft>
              <a:buNone/>
            </a:pPr>
            <a:r>
              <a:rPr lang="en-GB"/>
              <a:t>int main() </a:t>
            </a:r>
            <a:endParaRPr/>
          </a:p>
          <a:p>
            <a:pPr indent="0" lvl="0" marL="0" rtl="0" algn="l">
              <a:spcBef>
                <a:spcPts val="1200"/>
              </a:spcBef>
              <a:spcAft>
                <a:spcPts val="0"/>
              </a:spcAft>
              <a:buNone/>
            </a:pPr>
            <a:r>
              <a:rPr lang="en-GB"/>
              <a:t>    int choice;   // menu choice</a:t>
            </a:r>
            <a:endParaRPr/>
          </a:p>
          <a:p>
            <a:pPr indent="0" lvl="0" marL="0" rtl="0" algn="l">
              <a:spcBef>
                <a:spcPts val="1200"/>
              </a:spcBef>
              <a:spcAft>
                <a:spcPts val="0"/>
              </a:spcAft>
              <a:buNone/>
            </a:pPr>
            <a:r>
              <a:rPr lang="en-GB"/>
              <a:t>    while (1)     // infinite loop to repeat menu until exit</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printf("\n==== MAIN MENU ====\n");</a:t>
            </a:r>
            <a:endParaRPr/>
          </a:p>
          <a:p>
            <a:pPr indent="0" lvl="0" marL="0" rtl="0" algn="l">
              <a:spcBef>
                <a:spcPts val="1200"/>
              </a:spcBef>
              <a:spcAft>
                <a:spcPts val="0"/>
              </a:spcAft>
              <a:buNone/>
            </a:pPr>
            <a:r>
              <a:rPr lang="en-GB"/>
              <a:t>        printf("1. Road Curve Design – Stopping Sight Distance (SSD)\n");</a:t>
            </a:r>
            <a:endParaRPr/>
          </a:p>
          <a:p>
            <a:pPr indent="0" lvl="0" marL="0" rtl="0" algn="l">
              <a:spcBef>
                <a:spcPts val="1200"/>
              </a:spcBef>
              <a:spcAft>
                <a:spcPts val="0"/>
              </a:spcAft>
              <a:buNone/>
            </a:pPr>
            <a:r>
              <a:rPr lang="en-GB"/>
              <a:t>        printf("2. Soil Bearing Capacity Checker\n");</a:t>
            </a:r>
            <a:endParaRPr/>
          </a:p>
          <a:p>
            <a:pPr indent="0" lvl="0" marL="0" rtl="0" algn="l">
              <a:spcBef>
                <a:spcPts val="1200"/>
              </a:spcBef>
              <a:spcAft>
                <a:spcPts val="0"/>
              </a:spcAft>
              <a:buNone/>
            </a:pPr>
            <a:r>
              <a:rPr lang="en-GB"/>
              <a:t>        printf("3. Water Tank Volume Calculator\n");</a:t>
            </a:r>
            <a:endParaRPr/>
          </a:p>
          <a:p>
            <a:pPr indent="0" lvl="0" marL="0" rtl="0" algn="l">
              <a:spcBef>
                <a:spcPts val="1200"/>
              </a:spcBef>
              <a:spcAft>
                <a:spcPts val="0"/>
              </a:spcAft>
              <a:buNone/>
            </a:pPr>
            <a:r>
              <a:rPr lang="en-GB"/>
              <a:t>        printf("4. Exit\n");</a:t>
            </a:r>
            <a:endParaRPr/>
          </a:p>
          <a:p>
            <a:pPr indent="0" lvl="0" marL="0" rtl="0" algn="l">
              <a:spcBef>
                <a:spcPts val="1200"/>
              </a:spcBef>
              <a:spcAft>
                <a:spcPts val="0"/>
              </a:spcAft>
              <a:buNone/>
            </a:pPr>
            <a:r>
              <a:rPr lang="en-GB"/>
              <a:t>        printf("Enter your choice: ");</a:t>
            </a:r>
            <a:endParaRPr/>
          </a:p>
          <a:p>
            <a:pPr indent="0" lvl="0" marL="0" rtl="0" algn="l">
              <a:spcBef>
                <a:spcPts val="1200"/>
              </a:spcBef>
              <a:spcAft>
                <a:spcPts val="1200"/>
              </a:spcAft>
              <a:buNone/>
            </a:pPr>
            <a:r>
              <a:rPr lang="en-GB"/>
              <a:t>        scanf("%d", &amp;choice);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body"/>
          </p:nvPr>
        </p:nvSpPr>
        <p:spPr>
          <a:xfrm>
            <a:off x="830700" y="320450"/>
            <a:ext cx="5071200" cy="4495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400"/>
              <a:t>switch (choice)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 -------------------- SSD PROGRAM --------------------</a:t>
            </a:r>
            <a:endParaRPr sz="1400"/>
          </a:p>
          <a:p>
            <a:pPr indent="0" lvl="0" marL="0" rtl="0" algn="l">
              <a:spcBef>
                <a:spcPts val="1200"/>
              </a:spcBef>
              <a:spcAft>
                <a:spcPts val="0"/>
              </a:spcAft>
              <a:buNone/>
            </a:pPr>
            <a:r>
              <a:rPr lang="en-GB" sz="1400"/>
              <a:t>            case 1: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float v, t, f, SSD;</a:t>
            </a:r>
            <a:endParaRPr sz="1400"/>
          </a:p>
          <a:p>
            <a:pPr indent="0" lvl="0" marL="0" rtl="0" algn="l">
              <a:spcBef>
                <a:spcPts val="1200"/>
              </a:spcBef>
              <a:spcAft>
                <a:spcPts val="0"/>
              </a:spcAft>
              <a:buNone/>
            </a:pPr>
            <a:r>
              <a:rPr lang="en-GB" sz="1400"/>
              <a:t>                printf("\n=== Road Curve Design – Stopping Sight Distance (SSD) ===\n");</a:t>
            </a:r>
            <a:endParaRPr sz="1400"/>
          </a:p>
          <a:p>
            <a:pPr indent="0" lvl="0" marL="0" rtl="0" algn="l">
              <a:spcBef>
                <a:spcPts val="1200"/>
              </a:spcBef>
              <a:spcAft>
                <a:spcPts val="0"/>
              </a:spcAft>
              <a:buNone/>
            </a:pPr>
            <a:r>
              <a:rPr lang="en-GB" sz="1400"/>
              <a:t>                printf("Enter speed of vehicle (km/hr): ");</a:t>
            </a:r>
            <a:endParaRPr sz="1400"/>
          </a:p>
          <a:p>
            <a:pPr indent="0" lvl="0" marL="0" rtl="0" algn="l">
              <a:spcBef>
                <a:spcPts val="1200"/>
              </a:spcBef>
              <a:spcAft>
                <a:spcPts val="0"/>
              </a:spcAft>
              <a:buNone/>
            </a:pPr>
            <a:r>
              <a:rPr lang="en-GB" sz="1400"/>
              <a:t>                scanf("%f", &amp;v);</a:t>
            </a:r>
            <a:endParaRPr sz="1400"/>
          </a:p>
          <a:p>
            <a:pPr indent="0" lvl="0" marL="0" rtl="0" algn="l">
              <a:spcBef>
                <a:spcPts val="1200"/>
              </a:spcBef>
              <a:spcAft>
                <a:spcPts val="0"/>
              </a:spcAft>
              <a:buNone/>
            </a:pPr>
            <a:r>
              <a:rPr lang="en-GB" sz="1400"/>
              <a:t>                printf("Enter reaction time (sec): ");</a:t>
            </a:r>
            <a:endParaRPr sz="1400"/>
          </a:p>
          <a:p>
            <a:pPr indent="0" lvl="0" marL="0" rtl="0" algn="l">
              <a:spcBef>
                <a:spcPts val="1200"/>
              </a:spcBef>
              <a:spcAft>
                <a:spcPts val="0"/>
              </a:spcAft>
              <a:buNone/>
            </a:pPr>
            <a:r>
              <a:rPr lang="en-GB" sz="1400"/>
              <a:t>                scanf("%f", &amp;t);</a:t>
            </a:r>
            <a:endParaRPr sz="1400"/>
          </a:p>
          <a:p>
            <a:pPr indent="0" lvl="0" marL="0" rtl="0" algn="l">
              <a:spcBef>
                <a:spcPts val="1200"/>
              </a:spcBef>
              <a:spcAft>
                <a:spcPts val="0"/>
              </a:spcAft>
              <a:buNone/>
            </a:pPr>
            <a:r>
              <a:rPr lang="en-GB" sz="1400"/>
              <a:t>                printf("Enter coefficient of friction: ");</a:t>
            </a:r>
            <a:endParaRPr sz="1400"/>
          </a:p>
          <a:p>
            <a:pPr indent="0" lvl="0" marL="0" rtl="0" algn="l">
              <a:spcBef>
                <a:spcPts val="1200"/>
              </a:spcBef>
              <a:spcAft>
                <a:spcPts val="1200"/>
              </a:spcAft>
              <a:buNone/>
            </a:pPr>
            <a:r>
              <a:rPr lang="en-GB" sz="1400"/>
              <a:t>                scanf("%f", &amp;f);</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body"/>
          </p:nvPr>
        </p:nvSpPr>
        <p:spPr>
          <a:xfrm>
            <a:off x="830700" y="231000"/>
            <a:ext cx="6061200" cy="4670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GB"/>
              <a:t>SSD = (v * t) + ((v * v) / (254 * f));</a:t>
            </a:r>
            <a:endParaRPr/>
          </a:p>
          <a:p>
            <a:pPr indent="0" lvl="0" marL="0" rtl="0" algn="l">
              <a:lnSpc>
                <a:spcPct val="100000"/>
              </a:lnSpc>
              <a:spcBef>
                <a:spcPts val="1200"/>
              </a:spcBef>
              <a:spcAft>
                <a:spcPts val="0"/>
              </a:spcAft>
              <a:buNone/>
            </a:pPr>
            <a:r>
              <a:rPr lang="en-GB"/>
              <a:t>                printf("\nStopping Sight Distance (SSD) = %.2f meters\n", SSD);</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SOIL BEARING CAPACITY PROGRAM --------------------</a:t>
            </a:r>
            <a:endParaRPr/>
          </a:p>
          <a:p>
            <a:pPr indent="0" lvl="0" marL="0" rtl="0" algn="l">
              <a:lnSpc>
                <a:spcPct val="100000"/>
              </a:lnSpc>
              <a:spcBef>
                <a:spcPts val="1200"/>
              </a:spcBef>
              <a:spcAft>
                <a:spcPts val="0"/>
              </a:spcAft>
              <a:buNone/>
            </a:pPr>
            <a:r>
              <a:rPr lang="en-GB"/>
              <a:t>            case 2: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float load, area, SBC, stress;</a:t>
            </a:r>
            <a:endParaRPr/>
          </a:p>
          <a:p>
            <a:pPr indent="0" lvl="0" marL="0" rtl="0" algn="l">
              <a:lnSpc>
                <a:spcPct val="100000"/>
              </a:lnSpc>
              <a:spcBef>
                <a:spcPts val="1200"/>
              </a:spcBef>
              <a:spcAft>
                <a:spcPts val="0"/>
              </a:spcAft>
              <a:buNone/>
            </a:pPr>
            <a:r>
              <a:rPr lang="en-GB"/>
              <a:t>                printf("\n=== Soil Bearing Capacity Checker ===\n");</a:t>
            </a:r>
            <a:endParaRPr/>
          </a:p>
          <a:p>
            <a:pPr indent="0" lvl="0" marL="0" rtl="0" algn="l">
              <a:lnSpc>
                <a:spcPct val="100000"/>
              </a:lnSpc>
              <a:spcBef>
                <a:spcPts val="1200"/>
              </a:spcBef>
              <a:spcAft>
                <a:spcPts val="0"/>
              </a:spcAft>
              <a:buNone/>
            </a:pPr>
            <a:r>
              <a:rPr lang="en-GB"/>
              <a:t>                printf("Enter load on foundation (kN): ");</a:t>
            </a:r>
            <a:endParaRPr/>
          </a:p>
          <a:p>
            <a:pPr indent="0" lvl="0" marL="0" rtl="0" algn="l">
              <a:lnSpc>
                <a:spcPct val="100000"/>
              </a:lnSpc>
              <a:spcBef>
                <a:spcPts val="1200"/>
              </a:spcBef>
              <a:spcAft>
                <a:spcPts val="0"/>
              </a:spcAft>
              <a:buNone/>
            </a:pPr>
            <a:r>
              <a:rPr lang="en-GB"/>
              <a:t>                scanf("%f", &amp;load);</a:t>
            </a:r>
            <a:endParaRPr/>
          </a:p>
          <a:p>
            <a:pPr indent="0" lvl="0" marL="0" rtl="0" algn="l">
              <a:lnSpc>
                <a:spcPct val="100000"/>
              </a:lnSpc>
              <a:spcBef>
                <a:spcPts val="1200"/>
              </a:spcBef>
              <a:spcAft>
                <a:spcPts val="0"/>
              </a:spcAft>
              <a:buNone/>
            </a:pPr>
            <a:r>
              <a:rPr lang="en-GB"/>
              <a:t>                printf("Enter area of foundation (sq.m): ");</a:t>
            </a:r>
            <a:endParaRPr/>
          </a:p>
          <a:p>
            <a:pPr indent="0" lvl="0" marL="0" rtl="0" algn="l">
              <a:lnSpc>
                <a:spcPct val="100000"/>
              </a:lnSpc>
              <a:spcBef>
                <a:spcPts val="1200"/>
              </a:spcBef>
              <a:spcAft>
                <a:spcPts val="0"/>
              </a:spcAft>
              <a:buNone/>
            </a:pPr>
            <a:r>
              <a:rPr lang="en-GB"/>
              <a:t>                scanf("%f", &amp;area);</a:t>
            </a:r>
            <a:endParaRPr/>
          </a:p>
          <a:p>
            <a:pPr indent="0" lvl="0" marL="0" rtl="0" algn="l">
              <a:lnSpc>
                <a:spcPct val="100000"/>
              </a:lnSpc>
              <a:spcBef>
                <a:spcPts val="1200"/>
              </a:spcBef>
              <a:spcAft>
                <a:spcPts val="0"/>
              </a:spcAft>
              <a:buNone/>
            </a:pPr>
            <a:r>
              <a:rPr lang="en-GB"/>
              <a:t>                printf("Enter safe bearing capacity of soil (kN/sq.m): ");</a:t>
            </a:r>
            <a:endParaRPr/>
          </a:p>
          <a:p>
            <a:pPr indent="0" lvl="0" marL="0" rtl="0" algn="l">
              <a:lnSpc>
                <a:spcPct val="100000"/>
              </a:lnSpc>
              <a:spcBef>
                <a:spcPts val="1200"/>
              </a:spcBef>
              <a:spcAft>
                <a:spcPts val="1200"/>
              </a:spcAft>
              <a:buNone/>
            </a:pPr>
            <a:r>
              <a:rPr lang="en-GB"/>
              <a:t>                scanf("%f", &amp;SBC);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body"/>
          </p:nvPr>
        </p:nvSpPr>
        <p:spPr>
          <a:xfrm>
            <a:off x="583275" y="235375"/>
            <a:ext cx="7242900" cy="46647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GB"/>
              <a:t>stress = load / area;</a:t>
            </a:r>
            <a:endParaRPr/>
          </a:p>
          <a:p>
            <a:pPr indent="0" lvl="0" marL="0" rtl="0" algn="l">
              <a:lnSpc>
                <a:spcPct val="100000"/>
              </a:lnSpc>
              <a:spcBef>
                <a:spcPts val="1200"/>
              </a:spcBef>
              <a:spcAft>
                <a:spcPts val="0"/>
              </a:spcAft>
              <a:buNone/>
            </a:pPr>
            <a:r>
              <a:rPr lang="en-GB"/>
              <a:t>                printf("\nApplied Stress = %.2f kN/m2\n", stress);</a:t>
            </a:r>
            <a:endParaRPr/>
          </a:p>
          <a:p>
            <a:pPr indent="0" lvl="0" marL="0" rtl="0" algn="l">
              <a:lnSpc>
                <a:spcPct val="100000"/>
              </a:lnSpc>
              <a:spcBef>
                <a:spcPts val="1200"/>
              </a:spcBef>
              <a:spcAft>
                <a:spcPts val="0"/>
              </a:spcAft>
              <a:buNone/>
            </a:pPr>
            <a:r>
              <a:rPr lang="en-GB"/>
              <a:t>                if (stress &lt;= SBC)</a:t>
            </a:r>
            <a:endParaRPr/>
          </a:p>
          <a:p>
            <a:pPr indent="0" lvl="0" marL="0" rtl="0" algn="l">
              <a:lnSpc>
                <a:spcPct val="100000"/>
              </a:lnSpc>
              <a:spcBef>
                <a:spcPts val="1200"/>
              </a:spcBef>
              <a:spcAft>
                <a:spcPts val="0"/>
              </a:spcAft>
              <a:buNone/>
            </a:pPr>
            <a:r>
              <a:rPr lang="en-GB"/>
              <a:t>                    printf("Result: SAFE — Soil can bear the load.\n");</a:t>
            </a:r>
            <a:endParaRPr/>
          </a:p>
          <a:p>
            <a:pPr indent="0" lvl="0" marL="0" rtl="0" algn="l">
              <a:lnSpc>
                <a:spcPct val="100000"/>
              </a:lnSpc>
              <a:spcBef>
                <a:spcPts val="1200"/>
              </a:spcBef>
              <a:spcAft>
                <a:spcPts val="0"/>
              </a:spcAft>
              <a:buNone/>
            </a:pPr>
            <a:r>
              <a:rPr lang="en-GB"/>
              <a:t>                else</a:t>
            </a:r>
            <a:endParaRPr/>
          </a:p>
          <a:p>
            <a:pPr indent="0" lvl="0" marL="0" rtl="0" algn="l">
              <a:lnSpc>
                <a:spcPct val="100000"/>
              </a:lnSpc>
              <a:spcBef>
                <a:spcPts val="1200"/>
              </a:spcBef>
              <a:spcAft>
                <a:spcPts val="0"/>
              </a:spcAft>
              <a:buNone/>
            </a:pPr>
            <a:r>
              <a:rPr lang="en-GB"/>
              <a:t>                    printf("Result: NOT SAFE — Increase foundation size.\n");</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WATER TANK VOLUME PROGRAM --------------------</a:t>
            </a:r>
            <a:endParaRPr/>
          </a:p>
          <a:p>
            <a:pPr indent="0" lvl="0" marL="0" rtl="0" algn="l">
              <a:lnSpc>
                <a:spcPct val="100000"/>
              </a:lnSpc>
              <a:spcBef>
                <a:spcPts val="1200"/>
              </a:spcBef>
              <a:spcAft>
                <a:spcPts val="0"/>
              </a:spcAft>
              <a:buNone/>
            </a:pPr>
            <a:r>
              <a:rPr lang="en-GB"/>
              <a:t>            case 3: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int tankType;</a:t>
            </a:r>
            <a:endParaRPr/>
          </a:p>
          <a:p>
            <a:pPr indent="0" lvl="0" marL="0" rtl="0" algn="l">
              <a:lnSpc>
                <a:spcPct val="100000"/>
              </a:lnSpc>
              <a:spcBef>
                <a:spcPts val="1200"/>
              </a:spcBef>
              <a:spcAft>
                <a:spcPts val="0"/>
              </a:spcAft>
              <a:buNone/>
            </a:pPr>
            <a:r>
              <a:rPr lang="en-GB"/>
              <a:t>                float length, width, height, radius, volume;</a:t>
            </a:r>
            <a:endParaRPr/>
          </a:p>
          <a:p>
            <a:pPr indent="0" lvl="0" marL="0" rtl="0" algn="l">
              <a:lnSpc>
                <a:spcPct val="100000"/>
              </a:lnSpc>
              <a:spcBef>
                <a:spcPts val="1200"/>
              </a:spcBef>
              <a:spcAft>
                <a:spcPts val="0"/>
              </a:spcAft>
              <a:buNone/>
            </a:pPr>
            <a:r>
              <a:rPr lang="en-GB"/>
              <a:t>                printf("\n=== Water Tank Volume Calculator ===\n");</a:t>
            </a:r>
            <a:endParaRPr/>
          </a:p>
          <a:p>
            <a:pPr indent="0" lvl="0" marL="0" rtl="0" algn="l">
              <a:lnSpc>
                <a:spcPct val="100000"/>
              </a:lnSpc>
              <a:spcBef>
                <a:spcPts val="1200"/>
              </a:spcBef>
              <a:spcAft>
                <a:spcPts val="0"/>
              </a:spcAft>
              <a:buNone/>
            </a:pPr>
            <a:r>
              <a:rPr lang="en-GB"/>
              <a:t>                printf("1. Rectangular Tank\n");</a:t>
            </a:r>
            <a:endParaRPr/>
          </a:p>
          <a:p>
            <a:pPr indent="0" lvl="0" marL="0" rtl="0" algn="l">
              <a:lnSpc>
                <a:spcPct val="100000"/>
              </a:lnSpc>
              <a:spcBef>
                <a:spcPts val="1200"/>
              </a:spcBef>
              <a:spcAft>
                <a:spcPts val="0"/>
              </a:spcAft>
              <a:buNone/>
            </a:pPr>
            <a:r>
              <a:rPr lang="en-GB"/>
              <a:t>                printf("2. Cylindrical Tank\n");</a:t>
            </a:r>
            <a:endParaRPr/>
          </a:p>
          <a:p>
            <a:pPr indent="0" lvl="0" marL="0" rtl="0" algn="l">
              <a:lnSpc>
                <a:spcPct val="100000"/>
              </a:lnSpc>
              <a:spcBef>
                <a:spcPts val="1200"/>
              </a:spcBef>
              <a:spcAft>
                <a:spcPts val="1200"/>
              </a:spcAft>
              <a:buNone/>
            </a:pPr>
            <a:r>
              <a:rPr lang="en-GB"/>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body"/>
          </p:nvPr>
        </p:nvSpPr>
        <p:spPr>
          <a:xfrm>
            <a:off x="810500" y="415150"/>
            <a:ext cx="9800400" cy="43914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en-GB"/>
              <a:t>              printf("Enter type: ");</a:t>
            </a:r>
            <a:endParaRPr/>
          </a:p>
          <a:p>
            <a:pPr indent="0" lvl="0" marL="0" rtl="0" algn="l">
              <a:lnSpc>
                <a:spcPct val="100000"/>
              </a:lnSpc>
              <a:spcBef>
                <a:spcPts val="1200"/>
              </a:spcBef>
              <a:spcAft>
                <a:spcPts val="0"/>
              </a:spcAft>
              <a:buNone/>
            </a:pPr>
            <a:r>
              <a:rPr lang="en-GB"/>
              <a:t>                scanf("%d", &amp;tankType);</a:t>
            </a:r>
            <a:endParaRPr/>
          </a:p>
          <a:p>
            <a:pPr indent="0" lvl="0" marL="0" rtl="0" algn="l">
              <a:lnSpc>
                <a:spcPct val="100000"/>
              </a:lnSpc>
              <a:spcBef>
                <a:spcPts val="1200"/>
              </a:spcBef>
              <a:spcAft>
                <a:spcPts val="0"/>
              </a:spcAft>
              <a:buNone/>
            </a:pPr>
            <a:r>
              <a:rPr lang="en-GB"/>
              <a:t>if (tankType == 1) {</a:t>
            </a:r>
            <a:endParaRPr/>
          </a:p>
          <a:p>
            <a:pPr indent="0" lvl="0" marL="0" rtl="0" algn="l">
              <a:lnSpc>
                <a:spcPct val="100000"/>
              </a:lnSpc>
              <a:spcBef>
                <a:spcPts val="1200"/>
              </a:spcBef>
              <a:spcAft>
                <a:spcPts val="0"/>
              </a:spcAft>
              <a:buNone/>
            </a:pPr>
            <a:r>
              <a:rPr lang="en-GB"/>
              <a:t>                    printf("Enter length (m): ");</a:t>
            </a:r>
            <a:endParaRPr/>
          </a:p>
          <a:p>
            <a:pPr indent="0" lvl="0" marL="0" rtl="0" algn="l">
              <a:lnSpc>
                <a:spcPct val="100000"/>
              </a:lnSpc>
              <a:spcBef>
                <a:spcPts val="1200"/>
              </a:spcBef>
              <a:spcAft>
                <a:spcPts val="0"/>
              </a:spcAft>
              <a:buNone/>
            </a:pPr>
            <a:r>
              <a:rPr lang="en-GB"/>
              <a:t>                    scanf("%f", &amp;length);</a:t>
            </a:r>
            <a:endParaRPr/>
          </a:p>
          <a:p>
            <a:pPr indent="0" lvl="0" marL="0" rtl="0" algn="l">
              <a:lnSpc>
                <a:spcPct val="100000"/>
              </a:lnSpc>
              <a:spcBef>
                <a:spcPts val="1200"/>
              </a:spcBef>
              <a:spcAft>
                <a:spcPts val="0"/>
              </a:spcAft>
              <a:buNone/>
            </a:pPr>
            <a:r>
              <a:rPr lang="en-GB"/>
              <a:t>                    printf("Enter width (m): ");</a:t>
            </a:r>
            <a:endParaRPr/>
          </a:p>
          <a:p>
            <a:pPr indent="0" lvl="0" marL="0" rtl="0" algn="l">
              <a:lnSpc>
                <a:spcPct val="100000"/>
              </a:lnSpc>
              <a:spcBef>
                <a:spcPts val="1200"/>
              </a:spcBef>
              <a:spcAft>
                <a:spcPts val="0"/>
              </a:spcAft>
              <a:buNone/>
            </a:pPr>
            <a:r>
              <a:rPr lang="en-GB"/>
              <a:t>                    scanf("%f", &amp;width);</a:t>
            </a:r>
            <a:endParaRPr/>
          </a:p>
          <a:p>
            <a:pPr indent="0" lvl="0" marL="0" rtl="0" algn="l">
              <a:lnSpc>
                <a:spcPct val="100000"/>
              </a:lnSpc>
              <a:spcBef>
                <a:spcPts val="1200"/>
              </a:spcBef>
              <a:spcAft>
                <a:spcPts val="0"/>
              </a:spcAft>
              <a:buNone/>
            </a:pPr>
            <a:r>
              <a:rPr lang="en-GB"/>
              <a:t>                    printf("Enter height (m): ");</a:t>
            </a:r>
            <a:endParaRPr/>
          </a:p>
          <a:p>
            <a:pPr indent="0" lvl="0" marL="0" rtl="0" algn="l">
              <a:lnSpc>
                <a:spcPct val="100000"/>
              </a:lnSpc>
              <a:spcBef>
                <a:spcPts val="1200"/>
              </a:spcBef>
              <a:spcAft>
                <a:spcPts val="0"/>
              </a:spcAft>
              <a:buNone/>
            </a:pPr>
            <a:r>
              <a:rPr lang="en-GB"/>
              <a:t>                    scanf("%f", &amp;height);</a:t>
            </a:r>
            <a:endParaRPr/>
          </a:p>
          <a:p>
            <a:pPr indent="0" lvl="0" marL="0" rtl="0" algn="l">
              <a:lnSpc>
                <a:spcPct val="100000"/>
              </a:lnSpc>
              <a:spcBef>
                <a:spcPts val="1200"/>
              </a:spcBef>
              <a:spcAft>
                <a:spcPts val="0"/>
              </a:spcAft>
              <a:buNone/>
            </a:pPr>
            <a:r>
              <a:rPr lang="en-GB"/>
              <a:t>                    volume = length * width * height;</a:t>
            </a:r>
            <a:endParaRPr/>
          </a:p>
          <a:p>
            <a:pPr indent="0" lvl="0" marL="0" rtl="0" algn="l">
              <a:lnSpc>
                <a:spcPct val="100000"/>
              </a:lnSpc>
              <a:spcBef>
                <a:spcPts val="1200"/>
              </a:spcBef>
              <a:spcAft>
                <a:spcPts val="0"/>
              </a:spcAft>
              <a:buNone/>
            </a:pPr>
            <a:r>
              <a:rPr lang="en-GB"/>
              <a:t>                    printf("\nVolume of Rectangular Tank = %.2f cubic meters\n", volume);</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else if (tankType == 2) {</a:t>
            </a:r>
            <a:endParaRPr/>
          </a:p>
          <a:p>
            <a:pPr indent="0" lvl="0" marL="0" rtl="0" algn="l">
              <a:lnSpc>
                <a:spcPct val="100000"/>
              </a:lnSpc>
              <a:spcBef>
                <a:spcPts val="1200"/>
              </a:spcBef>
              <a:spcAft>
                <a:spcPts val="0"/>
              </a:spcAft>
              <a:buNone/>
            </a:pPr>
            <a:r>
              <a:rPr lang="en-GB"/>
              <a:t>                    printf("Enter radius (m): ");</a:t>
            </a:r>
            <a:endParaRPr/>
          </a:p>
          <a:p>
            <a:pPr indent="0" lvl="0" marL="0" rtl="0" algn="l">
              <a:lnSpc>
                <a:spcPct val="100000"/>
              </a:lnSpc>
              <a:spcBef>
                <a:spcPts val="1200"/>
              </a:spcBef>
              <a:spcAft>
                <a:spcPts val="1200"/>
              </a:spcAft>
              <a:buNone/>
            </a:pPr>
            <a:r>
              <a:rPr lang="en-GB"/>
              <a:t>                    scanf("%f", &amp;radius);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body"/>
          </p:nvPr>
        </p:nvSpPr>
        <p:spPr>
          <a:xfrm>
            <a:off x="830700" y="503200"/>
            <a:ext cx="7613700" cy="414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     printf("Enter height (m): ");</a:t>
            </a:r>
            <a:endParaRPr/>
          </a:p>
          <a:p>
            <a:pPr indent="0" lvl="0" marL="0" rtl="0" algn="l">
              <a:spcBef>
                <a:spcPts val="1200"/>
              </a:spcBef>
              <a:spcAft>
                <a:spcPts val="0"/>
              </a:spcAft>
              <a:buNone/>
            </a:pPr>
            <a:r>
              <a:rPr lang="en-GB"/>
              <a:t>                    scanf("%f", &amp;height);</a:t>
            </a:r>
            <a:endParaRPr/>
          </a:p>
          <a:p>
            <a:pPr indent="0" lvl="0" marL="0" rtl="0" algn="l">
              <a:spcBef>
                <a:spcPts val="1200"/>
              </a:spcBef>
              <a:spcAft>
                <a:spcPts val="0"/>
              </a:spcAft>
              <a:buNone/>
            </a:pPr>
            <a:r>
              <a:rPr lang="en-GB"/>
              <a:t>volume = 3.1416 * radius * radius * height;</a:t>
            </a:r>
            <a:endParaRPr/>
          </a:p>
          <a:p>
            <a:pPr indent="0" lvl="0" marL="0" rtl="0" algn="l">
              <a:spcBef>
                <a:spcPts val="1200"/>
              </a:spcBef>
              <a:spcAft>
                <a:spcPts val="0"/>
              </a:spcAft>
              <a:buNone/>
            </a:pPr>
            <a:r>
              <a:rPr lang="en-GB"/>
              <a:t>                    printf("\nVolume of Cylindrical Tank = %.2f cubic meters\n", volume);</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else {</a:t>
            </a:r>
            <a:endParaRPr/>
          </a:p>
          <a:p>
            <a:pPr indent="0" lvl="0" marL="0" rtl="0" algn="l">
              <a:spcBef>
                <a:spcPts val="1200"/>
              </a:spcBef>
              <a:spcAft>
                <a:spcPts val="0"/>
              </a:spcAft>
              <a:buNone/>
            </a:pPr>
            <a:r>
              <a:rPr lang="en-GB"/>
              <a:t>                    printf("Invalid tank type!\n");</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break;</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 -------------------- EXIT --------------------</a:t>
            </a:r>
            <a:endParaRPr/>
          </a:p>
          <a:p>
            <a:pPr indent="0" lvl="0" marL="0" rtl="0" algn="l">
              <a:spcBef>
                <a:spcPts val="1200"/>
              </a:spcBef>
              <a:spcAft>
                <a:spcPts val="1200"/>
              </a:spcAft>
              <a:buNone/>
            </a:pP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body"/>
          </p:nvPr>
        </p:nvSpPr>
        <p:spPr>
          <a:xfrm>
            <a:off x="830700" y="684675"/>
            <a:ext cx="7627500" cy="3800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400"/>
              <a:t>case 4:</a:t>
            </a:r>
            <a:endParaRPr sz="1400"/>
          </a:p>
          <a:p>
            <a:pPr indent="0" lvl="0" marL="0" rtl="0" algn="l">
              <a:spcBef>
                <a:spcPts val="1200"/>
              </a:spcBef>
              <a:spcAft>
                <a:spcPts val="0"/>
              </a:spcAft>
              <a:buNone/>
            </a:pPr>
            <a:r>
              <a:rPr lang="en-GB" sz="1400"/>
              <a:t>                printf("\nExiting program...\n");</a:t>
            </a:r>
            <a:endParaRPr sz="1400"/>
          </a:p>
          <a:p>
            <a:pPr indent="0" lvl="0" marL="0" rtl="0" algn="l">
              <a:spcBef>
                <a:spcPts val="1200"/>
              </a:spcBef>
              <a:spcAft>
                <a:spcPts val="0"/>
              </a:spcAft>
              <a:buNone/>
            </a:pPr>
            <a:r>
              <a:rPr lang="en-GB" sz="1400"/>
              <a:t>                return 0;  // stop entire program</a:t>
            </a:r>
            <a:endParaRPr sz="1400"/>
          </a:p>
          <a:p>
            <a:pPr indent="0" lvl="0" marL="0" rtl="0" algn="l">
              <a:spcBef>
                <a:spcPts val="1200"/>
              </a:spcBef>
              <a:spcAft>
                <a:spcPts val="0"/>
              </a:spcAft>
              <a:buNone/>
            </a:pPr>
            <a:r>
              <a:rPr lang="en-GB" sz="1400"/>
              <a:t>default:</a:t>
            </a:r>
            <a:endParaRPr sz="1400"/>
          </a:p>
          <a:p>
            <a:pPr indent="0" lvl="0" marL="0" rtl="0" algn="l">
              <a:spcBef>
                <a:spcPts val="1200"/>
              </a:spcBef>
              <a:spcAft>
                <a:spcPts val="0"/>
              </a:spcAft>
              <a:buNone/>
            </a:pPr>
            <a:r>
              <a:rPr lang="en-GB" sz="1400"/>
              <a:t>                printf("\nInvalid choice! Try again.\n");</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printf("\nPress Enter to return to Main Menu...");</a:t>
            </a:r>
            <a:endParaRPr sz="1400"/>
          </a:p>
          <a:p>
            <a:pPr indent="0" lvl="0" marL="0" rtl="0" algn="l">
              <a:spcBef>
                <a:spcPts val="1200"/>
              </a:spcBef>
              <a:spcAft>
                <a:spcPts val="0"/>
              </a:spcAft>
              <a:buNone/>
            </a:pPr>
            <a:r>
              <a:rPr lang="en-GB" sz="1400"/>
              <a:t>        getchar(); // to consume leftover newline</a:t>
            </a:r>
            <a:endParaRPr sz="1400"/>
          </a:p>
          <a:p>
            <a:pPr indent="0" lvl="0" marL="0" rtl="0" algn="l">
              <a:spcBef>
                <a:spcPts val="1200"/>
              </a:spcBef>
              <a:spcAft>
                <a:spcPts val="0"/>
              </a:spcAft>
              <a:buNone/>
            </a:pPr>
            <a:r>
              <a:rPr lang="en-GB" sz="1400"/>
              <a:t>        getchar(); // wait for user</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return 0;</a:t>
            </a:r>
            <a:endParaRPr sz="1400"/>
          </a:p>
          <a:p>
            <a:pPr indent="0" lvl="0" marL="0" rtl="0" algn="l">
              <a:spcBef>
                <a:spcPts val="1200"/>
              </a:spcBef>
              <a:spcAft>
                <a:spcPts val="1200"/>
              </a:spcAft>
              <a:buNone/>
            </a:pPr>
            <a:r>
              <a:rPr lang="en-GB" sz="1400"/>
              <a:t>}</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33275" y="759975"/>
            <a:ext cx="2179200" cy="259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SAMPLE OU</a:t>
            </a:r>
            <a:r>
              <a:rPr lang="en-GB"/>
              <a:t>TPUT:</a:t>
            </a:r>
            <a:endParaRPr/>
          </a:p>
        </p:txBody>
      </p:sp>
      <p:sp>
        <p:nvSpPr>
          <p:cNvPr id="254" name="Google Shape;254;p35"/>
          <p:cNvSpPr txBox="1"/>
          <p:nvPr>
            <p:ph idx="1" type="body"/>
          </p:nvPr>
        </p:nvSpPr>
        <p:spPr>
          <a:xfrm>
            <a:off x="2812475" y="759975"/>
            <a:ext cx="5698200" cy="4014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400"/>
              <a:t>1. Road Curve Design – Stopping Sight Distance (SSD)</a:t>
            </a:r>
            <a:endParaRPr sz="1400"/>
          </a:p>
          <a:p>
            <a:pPr indent="0" lvl="0" marL="0" rtl="0" algn="l">
              <a:spcBef>
                <a:spcPts val="1200"/>
              </a:spcBef>
              <a:spcAft>
                <a:spcPts val="0"/>
              </a:spcAft>
              <a:buNone/>
            </a:pPr>
            <a:r>
              <a:rPr lang="en-GB" sz="1400"/>
              <a:t>2. Soil Bearing Capacity Checker</a:t>
            </a:r>
            <a:endParaRPr sz="1400"/>
          </a:p>
          <a:p>
            <a:pPr indent="0" lvl="0" marL="0" rtl="0" algn="l">
              <a:spcBef>
                <a:spcPts val="1200"/>
              </a:spcBef>
              <a:spcAft>
                <a:spcPts val="0"/>
              </a:spcAft>
              <a:buNone/>
            </a:pPr>
            <a:r>
              <a:rPr lang="en-GB" sz="1400"/>
              <a:t>3. Water Tank Volume Calculator</a:t>
            </a:r>
            <a:endParaRPr sz="1400"/>
          </a:p>
          <a:p>
            <a:pPr indent="0" lvl="0" marL="0" rtl="0" algn="l">
              <a:spcBef>
                <a:spcPts val="1200"/>
              </a:spcBef>
              <a:spcAft>
                <a:spcPts val="0"/>
              </a:spcAft>
              <a:buNone/>
            </a:pPr>
            <a:r>
              <a:rPr lang="en-GB" sz="1400"/>
              <a:t>4. Exit</a:t>
            </a:r>
            <a:endParaRPr sz="1400"/>
          </a:p>
          <a:p>
            <a:pPr indent="0" lvl="0" marL="0" rtl="0" algn="l">
              <a:spcBef>
                <a:spcPts val="1200"/>
              </a:spcBef>
              <a:spcAft>
                <a:spcPts val="0"/>
              </a:spcAft>
              <a:buNone/>
            </a:pPr>
            <a:r>
              <a:rPr lang="en-GB" sz="1400"/>
              <a:t>Enter your choice: 1</a:t>
            </a:r>
            <a:endParaRPr sz="1400"/>
          </a:p>
          <a:p>
            <a:pPr indent="0" lvl="0" marL="0" rtl="0" algn="l">
              <a:spcBef>
                <a:spcPts val="1200"/>
              </a:spcBef>
              <a:spcAft>
                <a:spcPts val="0"/>
              </a:spcAft>
              <a:buNone/>
            </a:pPr>
            <a:r>
              <a:rPr lang="en-GB" sz="1400"/>
              <a:t>=== Road Curve Design – Stopping Sight Distance (SSD) ===</a:t>
            </a:r>
            <a:endParaRPr sz="1400"/>
          </a:p>
          <a:p>
            <a:pPr indent="0" lvl="0" marL="0" rtl="0" algn="l">
              <a:spcBef>
                <a:spcPts val="1200"/>
              </a:spcBef>
              <a:spcAft>
                <a:spcPts val="0"/>
              </a:spcAft>
              <a:buNone/>
            </a:pPr>
            <a:r>
              <a:rPr lang="en-GB" sz="1400"/>
              <a:t>Enter speed of vehicle (km/hr): 80</a:t>
            </a:r>
            <a:endParaRPr sz="1400"/>
          </a:p>
          <a:p>
            <a:pPr indent="0" lvl="0" marL="0" rtl="0" algn="l">
              <a:spcBef>
                <a:spcPts val="1200"/>
              </a:spcBef>
              <a:spcAft>
                <a:spcPts val="0"/>
              </a:spcAft>
              <a:buNone/>
            </a:pPr>
            <a:r>
              <a:rPr lang="en-GB" sz="1400"/>
              <a:t>Enter reaction time (sec): 5</a:t>
            </a:r>
            <a:endParaRPr sz="1400"/>
          </a:p>
          <a:p>
            <a:pPr indent="0" lvl="0" marL="0" rtl="0" algn="l">
              <a:spcBef>
                <a:spcPts val="1200"/>
              </a:spcBef>
              <a:spcAft>
                <a:spcPts val="0"/>
              </a:spcAft>
              <a:buNone/>
            </a:pPr>
            <a:r>
              <a:rPr lang="en-GB" sz="1400"/>
              <a:t>Enter coefficient of friction: 10</a:t>
            </a:r>
            <a:endParaRPr sz="1400"/>
          </a:p>
          <a:p>
            <a:pPr indent="0" lvl="0" marL="0" rtl="0" algn="l">
              <a:spcBef>
                <a:spcPts val="1200"/>
              </a:spcBef>
              <a:spcAft>
                <a:spcPts val="0"/>
              </a:spcAft>
              <a:buNone/>
            </a:pPr>
            <a:r>
              <a:rPr lang="en-GB" sz="1400"/>
              <a:t>Stopping Sight Distance (SSD) = 402.52 meters</a:t>
            </a:r>
            <a:endParaRPr sz="1400"/>
          </a:p>
          <a:p>
            <a:pPr indent="0" lvl="0" marL="0" rtl="0" algn="l">
              <a:spcBef>
                <a:spcPts val="1200"/>
              </a:spcBef>
              <a:spcAft>
                <a:spcPts val="1200"/>
              </a:spcAft>
              <a:buNone/>
            </a:pPr>
            <a:r>
              <a:rPr lang="en-GB" sz="1400"/>
              <a:t>Press Enter to return to Main Menu…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260" name="Google Shape;260;p36"/>
          <p:cNvSpPr txBox="1"/>
          <p:nvPr>
            <p:ph idx="1" type="body"/>
          </p:nvPr>
        </p:nvSpPr>
        <p:spPr>
          <a:xfrm>
            <a:off x="819150" y="1439875"/>
            <a:ext cx="7505700" cy="34128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1200"/>
              </a:spcAft>
              <a:buNone/>
            </a:pPr>
            <a:r>
              <a:rPr lang="en-GB" sz="1900"/>
              <a:t>The Unified Civil Engineering Computation Tool (UCECT) integrates important civil engineering calculations into a single C-based application. It helps users easily perform Stopping Sight Distance, Soil Bearing Capacity, and Water Tank Volume calculations. The menu-driven approach makes the program simple and user-friendly. Accurate input handling and validation ensure reliable results. The modular structure improves clarity and allows easy modification or expansion in the future. UCECT bridges the gap between theoretical knowledge and practical engineering applications. It runs on basic hardware and standard C programming tools. Overall, the project is a useful learning and computation tool for civil engineering students</a:t>
            </a:r>
            <a:r>
              <a:rPr lang="en-GB" sz="1500"/>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